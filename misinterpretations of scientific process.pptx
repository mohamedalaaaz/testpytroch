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2" r:id="rId3"/>
    <p:sldId id="358" r:id="rId4"/>
    <p:sldId id="359" r:id="rId5"/>
    <p:sldId id="362" r:id="rId6"/>
    <p:sldId id="361" r:id="rId7"/>
    <p:sldId id="360" r:id="rId8"/>
    <p:sldId id="364" r:id="rId9"/>
    <p:sldId id="363" r:id="rId10"/>
    <p:sldId id="365" r:id="rId11"/>
    <p:sldId id="34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37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94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430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387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16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863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954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527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439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821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07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5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AA2C1-30FE-4A5B-9F15-98834576BABB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48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6053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399" y="3909847"/>
            <a:ext cx="10143873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Title: </a:t>
            </a:r>
            <a:r>
              <a:rPr lang="en-US" sz="36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</a:t>
            </a:r>
          </a:p>
          <a:p>
            <a:pPr algn="ctr"/>
            <a:r>
              <a:rPr lang="en-US" sz="3600" b="1" dirty="0">
                <a:solidFill>
                  <a:srgbClr val="0070C0"/>
                </a:solidFill>
              </a:rPr>
              <a:t>Misinterpretations of Scientific Process</a:t>
            </a:r>
          </a:p>
          <a:p>
            <a:pPr algn="ctr"/>
            <a:r>
              <a:rPr lang="en-US" sz="3200" b="1" dirty="0">
                <a:solidFill>
                  <a:srgbClr val="FF0000"/>
                </a:solidFill>
              </a:rPr>
              <a:t>Presented By: Dr.  </a:t>
            </a:r>
            <a:r>
              <a:rPr lang="en-US" sz="3200" b="1">
                <a:solidFill>
                  <a:srgbClr val="FF0000"/>
                </a:solidFill>
              </a:rPr>
              <a:t>Mohamed Hafez</a:t>
            </a:r>
          </a:p>
          <a:p>
            <a:pPr algn="ctr"/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937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443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 flipV="1">
            <a:off x="178802" y="760653"/>
            <a:ext cx="11592784" cy="292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8801" y="328263"/>
            <a:ext cx="73915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 </a:t>
            </a:r>
          </a:p>
          <a:p>
            <a:endParaRPr lang="en-US" sz="1000" b="1" dirty="0">
              <a:ln w="0"/>
              <a:solidFill>
                <a:schemeClr val="accent5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Bookman Old Style" pitchFamily="18" charset="0"/>
              <a:ea typeface="Batang" pitchFamily="18" charset="-127"/>
            </a:endParaRPr>
          </a:p>
          <a:p>
            <a:r>
              <a:rPr lang="en-US" sz="2400" dirty="0"/>
              <a:t>Misinterpretations of Scientific Process</a:t>
            </a:r>
            <a:endParaRPr lang="en-US" sz="2400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949941" y="3014804"/>
            <a:ext cx="9534135" cy="81482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320032"/>
                </a:solidFill>
              </a:rPr>
              <a:t>1- Misconception: Science is a collection of facts. </a:t>
            </a:r>
          </a:p>
        </p:txBody>
      </p:sp>
    </p:spTree>
    <p:extLst>
      <p:ext uri="{BB962C8B-B14F-4D97-AF65-F5344CB8AC3E}">
        <p14:creationId xmlns:p14="http://schemas.microsoft.com/office/powerpoint/2010/main" val="3163803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443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 flipV="1">
            <a:off x="178802" y="760653"/>
            <a:ext cx="11592784" cy="292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8801" y="328263"/>
            <a:ext cx="73915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 </a:t>
            </a:r>
          </a:p>
          <a:p>
            <a:endParaRPr lang="en-US" sz="1000" b="1" dirty="0">
              <a:ln w="0"/>
              <a:solidFill>
                <a:schemeClr val="accent5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Bookman Old Style" pitchFamily="18" charset="0"/>
              <a:ea typeface="Batang" pitchFamily="18" charset="-127"/>
            </a:endParaRPr>
          </a:p>
          <a:p>
            <a:r>
              <a:rPr lang="en-US" sz="2400" dirty="0"/>
              <a:t>Misinterpretations of Scientific Process</a:t>
            </a:r>
            <a:endParaRPr lang="en-US" sz="2400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1028761" y="2788689"/>
            <a:ext cx="9534135" cy="81482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320032"/>
                </a:solidFill>
              </a:rPr>
              <a:t>2- Misconception: Science is complete. </a:t>
            </a:r>
          </a:p>
        </p:txBody>
      </p:sp>
    </p:spTree>
    <p:extLst>
      <p:ext uri="{BB962C8B-B14F-4D97-AF65-F5344CB8AC3E}">
        <p14:creationId xmlns:p14="http://schemas.microsoft.com/office/powerpoint/2010/main" val="3163803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443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 flipV="1">
            <a:off x="178802" y="760653"/>
            <a:ext cx="11592784" cy="292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8801" y="328263"/>
            <a:ext cx="73915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 </a:t>
            </a:r>
          </a:p>
          <a:p>
            <a:endParaRPr lang="en-US" sz="1000" b="1" dirty="0">
              <a:ln w="0"/>
              <a:solidFill>
                <a:schemeClr val="accent5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Bookman Old Style" pitchFamily="18" charset="0"/>
              <a:ea typeface="Batang" pitchFamily="18" charset="-127"/>
            </a:endParaRPr>
          </a:p>
          <a:p>
            <a:r>
              <a:rPr lang="en-US" sz="2400" dirty="0"/>
              <a:t>Misinterpretations of Scientific Process</a:t>
            </a:r>
            <a:endParaRPr lang="en-US" sz="2400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1328932" y="2881941"/>
            <a:ext cx="9534135" cy="93523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320032"/>
                </a:solidFill>
              </a:rPr>
              <a:t>3- Misconception: There is a single Scientific Method that all scientists follow. </a:t>
            </a:r>
          </a:p>
        </p:txBody>
      </p:sp>
    </p:spTree>
    <p:extLst>
      <p:ext uri="{BB962C8B-B14F-4D97-AF65-F5344CB8AC3E}">
        <p14:creationId xmlns:p14="http://schemas.microsoft.com/office/powerpoint/2010/main" val="3163803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443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 flipV="1">
            <a:off x="178802" y="760653"/>
            <a:ext cx="11592784" cy="292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8801" y="328263"/>
            <a:ext cx="73915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 </a:t>
            </a:r>
          </a:p>
          <a:p>
            <a:endParaRPr lang="en-US" sz="1000" b="1" dirty="0">
              <a:ln w="0"/>
              <a:solidFill>
                <a:schemeClr val="accent5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Bookman Old Style" pitchFamily="18" charset="0"/>
              <a:ea typeface="Batang" pitchFamily="18" charset="-127"/>
            </a:endParaRPr>
          </a:p>
          <a:p>
            <a:r>
              <a:rPr lang="en-US" sz="2400" dirty="0"/>
              <a:t>Misinterpretations of Scientific Process</a:t>
            </a:r>
            <a:endParaRPr lang="en-US" sz="2400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1028762" y="2809816"/>
            <a:ext cx="9534135" cy="122479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320032"/>
                </a:solidFill>
              </a:rPr>
              <a:t>4- Misconception: The process of science is purely analytic and does not involve creativity. </a:t>
            </a:r>
          </a:p>
        </p:txBody>
      </p:sp>
    </p:spTree>
    <p:extLst>
      <p:ext uri="{BB962C8B-B14F-4D97-AF65-F5344CB8AC3E}">
        <p14:creationId xmlns:p14="http://schemas.microsoft.com/office/powerpoint/2010/main" val="3163803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443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 flipV="1">
            <a:off x="178802" y="760653"/>
            <a:ext cx="11592784" cy="292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8801" y="328263"/>
            <a:ext cx="73915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 </a:t>
            </a:r>
          </a:p>
          <a:p>
            <a:endParaRPr lang="en-US" sz="1000" b="1" dirty="0">
              <a:ln w="0"/>
              <a:solidFill>
                <a:schemeClr val="accent5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Bookman Old Style" pitchFamily="18" charset="0"/>
              <a:ea typeface="Batang" pitchFamily="18" charset="-127"/>
            </a:endParaRPr>
          </a:p>
          <a:p>
            <a:r>
              <a:rPr lang="en-US" sz="2400" dirty="0"/>
              <a:t>Misinterpretations of Scientific Process</a:t>
            </a:r>
            <a:endParaRPr lang="en-US" sz="2400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1028761" y="2667000"/>
            <a:ext cx="9534135" cy="11790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320032"/>
                </a:solidFill>
              </a:rPr>
              <a:t>5- Misconception: When scientists analyze a problem, they must use either inductive or deductive reasoning. </a:t>
            </a:r>
          </a:p>
        </p:txBody>
      </p:sp>
    </p:spTree>
    <p:extLst>
      <p:ext uri="{BB962C8B-B14F-4D97-AF65-F5344CB8AC3E}">
        <p14:creationId xmlns:p14="http://schemas.microsoft.com/office/powerpoint/2010/main" val="3163803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443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 flipV="1">
            <a:off x="178802" y="760653"/>
            <a:ext cx="11592784" cy="292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8801" y="328263"/>
            <a:ext cx="73915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 </a:t>
            </a:r>
          </a:p>
          <a:p>
            <a:endParaRPr lang="en-US" sz="1000" b="1" dirty="0">
              <a:ln w="0"/>
              <a:solidFill>
                <a:schemeClr val="accent5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Bookman Old Style" pitchFamily="18" charset="0"/>
              <a:ea typeface="Batang" pitchFamily="18" charset="-127"/>
            </a:endParaRPr>
          </a:p>
          <a:p>
            <a:r>
              <a:rPr lang="en-US" sz="2400" dirty="0"/>
              <a:t>Misinterpretations of Scientific Process</a:t>
            </a:r>
            <a:endParaRPr lang="en-US" sz="2400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1056741" y="2531110"/>
            <a:ext cx="9534135" cy="143815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b="1" dirty="0">
                <a:solidFill>
                  <a:srgbClr val="320032"/>
                </a:solidFill>
              </a:rPr>
              <a:t>6- Misconception: Experiments are a necessary part of the scientific process. Without an experiment, a study is not rigorous or scientific. </a:t>
            </a:r>
          </a:p>
        </p:txBody>
      </p:sp>
    </p:spTree>
    <p:extLst>
      <p:ext uri="{BB962C8B-B14F-4D97-AF65-F5344CB8AC3E}">
        <p14:creationId xmlns:p14="http://schemas.microsoft.com/office/powerpoint/2010/main" val="3163803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443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 flipV="1">
            <a:off x="178802" y="760653"/>
            <a:ext cx="11592784" cy="292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8801" y="328263"/>
            <a:ext cx="73915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 </a:t>
            </a:r>
          </a:p>
          <a:p>
            <a:endParaRPr lang="en-US" sz="1000" b="1" dirty="0">
              <a:ln w="0"/>
              <a:solidFill>
                <a:schemeClr val="accent5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Bookman Old Style" pitchFamily="18" charset="0"/>
              <a:ea typeface="Batang" pitchFamily="18" charset="-127"/>
            </a:endParaRPr>
          </a:p>
          <a:p>
            <a:r>
              <a:rPr lang="en-US" sz="2400" dirty="0"/>
              <a:t>Misinterpretations of Scientific Process</a:t>
            </a:r>
            <a:endParaRPr lang="en-US" sz="2400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1208126" y="2461153"/>
            <a:ext cx="9534135" cy="13467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320032"/>
                </a:solidFill>
              </a:rPr>
              <a:t>7- Misconception: "Hard" sciences are more rigorous and scientific than "soft" sciences. </a:t>
            </a:r>
          </a:p>
        </p:txBody>
      </p:sp>
    </p:spTree>
    <p:extLst>
      <p:ext uri="{BB962C8B-B14F-4D97-AF65-F5344CB8AC3E}">
        <p14:creationId xmlns:p14="http://schemas.microsoft.com/office/powerpoint/2010/main" val="3163803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443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 flipV="1">
            <a:off x="178802" y="760653"/>
            <a:ext cx="11592784" cy="292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8801" y="328263"/>
            <a:ext cx="73915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 </a:t>
            </a:r>
          </a:p>
          <a:p>
            <a:endParaRPr lang="en-US" sz="1000" b="1" dirty="0">
              <a:ln w="0"/>
              <a:solidFill>
                <a:schemeClr val="accent5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Bookman Old Style" pitchFamily="18" charset="0"/>
              <a:ea typeface="Batang" pitchFamily="18" charset="-127"/>
            </a:endParaRPr>
          </a:p>
          <a:p>
            <a:r>
              <a:rPr lang="en-US" sz="2400" dirty="0"/>
              <a:t>Misinterpretations of Scientific Process</a:t>
            </a:r>
            <a:endParaRPr lang="en-US" sz="2400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1208126" y="2855536"/>
            <a:ext cx="9534135" cy="113335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320032"/>
                </a:solidFill>
              </a:rPr>
              <a:t>8- Misconception: Scientific ideas are absolute and unchanging. </a:t>
            </a:r>
          </a:p>
        </p:txBody>
      </p:sp>
    </p:spTree>
    <p:extLst>
      <p:ext uri="{BB962C8B-B14F-4D97-AF65-F5344CB8AC3E}">
        <p14:creationId xmlns:p14="http://schemas.microsoft.com/office/powerpoint/2010/main" val="3163803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443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 flipV="1">
            <a:off x="178802" y="760653"/>
            <a:ext cx="11592784" cy="292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8801" y="328263"/>
            <a:ext cx="73915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 </a:t>
            </a:r>
          </a:p>
          <a:p>
            <a:endParaRPr lang="en-US" sz="1000" b="1" dirty="0">
              <a:ln w="0"/>
              <a:solidFill>
                <a:schemeClr val="accent5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Bookman Old Style" pitchFamily="18" charset="0"/>
              <a:ea typeface="Batang" pitchFamily="18" charset="-127"/>
            </a:endParaRPr>
          </a:p>
          <a:p>
            <a:r>
              <a:rPr lang="en-US" sz="2400" dirty="0"/>
              <a:t>Misinterpretations of Scientific Process</a:t>
            </a:r>
            <a:endParaRPr lang="en-US" sz="2400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1095377" y="2518232"/>
            <a:ext cx="9534135" cy="189922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sz="3200" b="1" dirty="0">
                <a:solidFill>
                  <a:srgbClr val="320032"/>
                </a:solidFill>
              </a:rPr>
              <a:t>9- Misconception: Because scientific ideas are tentative and subject to change, they can't be trusted. </a:t>
            </a:r>
          </a:p>
        </p:txBody>
      </p:sp>
    </p:spTree>
    <p:extLst>
      <p:ext uri="{BB962C8B-B14F-4D97-AF65-F5344CB8AC3E}">
        <p14:creationId xmlns:p14="http://schemas.microsoft.com/office/powerpoint/2010/main" val="3163803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749186" y="500063"/>
            <a:ext cx="78518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11" y="-10510"/>
            <a:ext cx="121960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682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205</Words>
  <Application>Microsoft Office PowerPoint</Application>
  <PresentationFormat>شاشة عريضة</PresentationFormat>
  <Paragraphs>39</Paragraphs>
  <Slides>11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11</vt:i4>
      </vt:variant>
    </vt:vector>
  </HeadingPairs>
  <TitlesOfParts>
    <vt:vector size="16" baseType="lpstr">
      <vt:lpstr>Arial</vt:lpstr>
      <vt:lpstr>Bookman Old Style</vt:lpstr>
      <vt:lpstr>Calibri</vt:lpstr>
      <vt:lpstr>Calibri Light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moustafamahmoud.eg@hotmail.com</dc:creator>
  <cp:lastModifiedBy>Mohamed Hafez</cp:lastModifiedBy>
  <cp:revision>58</cp:revision>
  <dcterms:created xsi:type="dcterms:W3CDTF">2019-11-03T13:54:28Z</dcterms:created>
  <dcterms:modified xsi:type="dcterms:W3CDTF">2025-10-27T11:10:04Z</dcterms:modified>
</cp:coreProperties>
</file>
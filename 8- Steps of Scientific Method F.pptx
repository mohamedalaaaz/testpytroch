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62" r:id="rId3"/>
    <p:sldId id="346" r:id="rId4"/>
    <p:sldId id="358" r:id="rId5"/>
    <p:sldId id="359" r:id="rId6"/>
    <p:sldId id="354" r:id="rId7"/>
    <p:sldId id="347" r:id="rId8"/>
    <p:sldId id="348" r:id="rId9"/>
    <p:sldId id="355" r:id="rId10"/>
    <p:sldId id="340"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3917"/>
    <a:srgbClr val="00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25" autoAdjust="0"/>
    <p:restoredTop sz="94660"/>
  </p:normalViewPr>
  <p:slideViewPr>
    <p:cSldViewPr snapToGrid="0">
      <p:cViewPr varScale="1">
        <p:scale>
          <a:sx n="82" d="100"/>
          <a:sy n="82" d="100"/>
        </p:scale>
        <p:origin x="624"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viewProps" Target="view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presProps" Target="presProps.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tableStyles" Target="tableStyles.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D6AA2C1-30FE-4A5B-9F15-98834576BABB}" type="datetimeFigureOut">
              <a:rPr lang="en-US" smtClean="0"/>
              <a:pPr/>
              <a:t>11/7/2025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C005D81-1560-4BFE-91A5-0D5BAFD5DEAD}" type="slidenum">
              <a:rPr lang="en-US" smtClean="0"/>
              <a:pPr/>
              <a:t>‹#›</a:t>
            </a:fld>
            <a:endParaRPr lang="en-US" dirty="0"/>
          </a:p>
        </p:txBody>
      </p:sp>
    </p:spTree>
    <p:extLst>
      <p:ext uri="{BB962C8B-B14F-4D97-AF65-F5344CB8AC3E}">
        <p14:creationId xmlns:p14="http://schemas.microsoft.com/office/powerpoint/2010/main" val="3779940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D6AA2C1-30FE-4A5B-9F15-98834576BABB}" type="datetimeFigureOut">
              <a:rPr lang="en-US" smtClean="0"/>
              <a:pPr/>
              <a:t>11/7/2025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C005D81-1560-4BFE-91A5-0D5BAFD5DEAD}" type="slidenum">
              <a:rPr lang="en-US" smtClean="0"/>
              <a:pPr/>
              <a:t>‹#›</a:t>
            </a:fld>
            <a:endParaRPr lang="en-US" dirty="0"/>
          </a:p>
        </p:txBody>
      </p:sp>
    </p:spTree>
    <p:extLst>
      <p:ext uri="{BB962C8B-B14F-4D97-AF65-F5344CB8AC3E}">
        <p14:creationId xmlns:p14="http://schemas.microsoft.com/office/powerpoint/2010/main" val="847430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D6AA2C1-30FE-4A5B-9F15-98834576BABB}" type="datetimeFigureOut">
              <a:rPr lang="en-US" smtClean="0"/>
              <a:pPr/>
              <a:t>11/7/2025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C005D81-1560-4BFE-91A5-0D5BAFD5DEAD}" type="slidenum">
              <a:rPr lang="en-US" smtClean="0"/>
              <a:pPr/>
              <a:t>‹#›</a:t>
            </a:fld>
            <a:endParaRPr lang="en-US" dirty="0"/>
          </a:p>
        </p:txBody>
      </p:sp>
    </p:spTree>
    <p:extLst>
      <p:ext uri="{BB962C8B-B14F-4D97-AF65-F5344CB8AC3E}">
        <p14:creationId xmlns:p14="http://schemas.microsoft.com/office/powerpoint/2010/main" val="4783877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D6AA2C1-30FE-4A5B-9F15-98834576BABB}" type="datetimeFigureOut">
              <a:rPr lang="en-US" smtClean="0"/>
              <a:pPr/>
              <a:t>11/7/2025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C005D81-1560-4BFE-91A5-0D5BAFD5DEAD}" type="slidenum">
              <a:rPr lang="en-US" smtClean="0"/>
              <a:pPr/>
              <a:t>‹#›</a:t>
            </a:fld>
            <a:endParaRPr lang="en-US" dirty="0"/>
          </a:p>
        </p:txBody>
      </p:sp>
    </p:spTree>
    <p:extLst>
      <p:ext uri="{BB962C8B-B14F-4D97-AF65-F5344CB8AC3E}">
        <p14:creationId xmlns:p14="http://schemas.microsoft.com/office/powerpoint/2010/main" val="20981618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D6AA2C1-30FE-4A5B-9F15-98834576BABB}" type="datetimeFigureOut">
              <a:rPr lang="en-US" smtClean="0"/>
              <a:pPr/>
              <a:t>11/7/2025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C005D81-1560-4BFE-91A5-0D5BAFD5DEAD}" type="slidenum">
              <a:rPr lang="en-US" smtClean="0"/>
              <a:pPr/>
              <a:t>‹#›</a:t>
            </a:fld>
            <a:endParaRPr lang="en-US" dirty="0"/>
          </a:p>
        </p:txBody>
      </p:sp>
    </p:spTree>
    <p:extLst>
      <p:ext uri="{BB962C8B-B14F-4D97-AF65-F5344CB8AC3E}">
        <p14:creationId xmlns:p14="http://schemas.microsoft.com/office/powerpoint/2010/main" val="19928633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D6AA2C1-30FE-4A5B-9F15-98834576BABB}" type="datetimeFigureOut">
              <a:rPr lang="en-US" smtClean="0"/>
              <a:pPr/>
              <a:t>11/7/2025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C005D81-1560-4BFE-91A5-0D5BAFD5DEAD}" type="slidenum">
              <a:rPr lang="en-US" smtClean="0"/>
              <a:pPr/>
              <a:t>‹#›</a:t>
            </a:fld>
            <a:endParaRPr lang="en-US" dirty="0"/>
          </a:p>
        </p:txBody>
      </p:sp>
    </p:spTree>
    <p:extLst>
      <p:ext uri="{BB962C8B-B14F-4D97-AF65-F5344CB8AC3E}">
        <p14:creationId xmlns:p14="http://schemas.microsoft.com/office/powerpoint/2010/main" val="32379540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6AA2C1-30FE-4A5B-9F15-98834576BABB}" type="datetimeFigureOut">
              <a:rPr lang="en-US" smtClean="0"/>
              <a:pPr/>
              <a:t>11/7/2025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C005D81-1560-4BFE-91A5-0D5BAFD5DEAD}" type="slidenum">
              <a:rPr lang="en-US" smtClean="0"/>
              <a:pPr/>
              <a:t>‹#›</a:t>
            </a:fld>
            <a:endParaRPr lang="en-US" dirty="0"/>
          </a:p>
        </p:txBody>
      </p:sp>
    </p:spTree>
    <p:extLst>
      <p:ext uri="{BB962C8B-B14F-4D97-AF65-F5344CB8AC3E}">
        <p14:creationId xmlns:p14="http://schemas.microsoft.com/office/powerpoint/2010/main" val="37495276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D6AA2C1-30FE-4A5B-9F15-98834576BABB}" type="datetimeFigureOut">
              <a:rPr lang="en-US" smtClean="0"/>
              <a:pPr/>
              <a:t>11/7/2025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C005D81-1560-4BFE-91A5-0D5BAFD5DEAD}" type="slidenum">
              <a:rPr lang="en-US" smtClean="0"/>
              <a:pPr/>
              <a:t>‹#›</a:t>
            </a:fld>
            <a:endParaRPr lang="en-US" dirty="0"/>
          </a:p>
        </p:txBody>
      </p:sp>
    </p:spTree>
    <p:extLst>
      <p:ext uri="{BB962C8B-B14F-4D97-AF65-F5344CB8AC3E}">
        <p14:creationId xmlns:p14="http://schemas.microsoft.com/office/powerpoint/2010/main" val="13784394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D6AA2C1-30FE-4A5B-9F15-98834576BABB}" type="datetimeFigureOut">
              <a:rPr lang="en-US" smtClean="0"/>
              <a:pPr/>
              <a:t>11/7/2025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C005D81-1560-4BFE-91A5-0D5BAFD5DEAD}" type="slidenum">
              <a:rPr lang="en-US" smtClean="0"/>
              <a:pPr/>
              <a:t>‹#›</a:t>
            </a:fld>
            <a:endParaRPr lang="en-US" dirty="0"/>
          </a:p>
        </p:txBody>
      </p:sp>
    </p:spTree>
    <p:extLst>
      <p:ext uri="{BB962C8B-B14F-4D97-AF65-F5344CB8AC3E}">
        <p14:creationId xmlns:p14="http://schemas.microsoft.com/office/powerpoint/2010/main" val="36268218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D6AA2C1-30FE-4A5B-9F15-98834576BABB}" type="datetimeFigureOut">
              <a:rPr lang="en-US" smtClean="0"/>
              <a:pPr/>
              <a:t>11/7/2025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C005D81-1560-4BFE-91A5-0D5BAFD5DEAD}" type="slidenum">
              <a:rPr lang="en-US" smtClean="0"/>
              <a:pPr/>
              <a:t>‹#›</a:t>
            </a:fld>
            <a:endParaRPr lang="en-US" dirty="0"/>
          </a:p>
        </p:txBody>
      </p:sp>
    </p:spTree>
    <p:extLst>
      <p:ext uri="{BB962C8B-B14F-4D97-AF65-F5344CB8AC3E}">
        <p14:creationId xmlns:p14="http://schemas.microsoft.com/office/powerpoint/2010/main" val="1750077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D6AA2C1-30FE-4A5B-9F15-98834576BABB}" type="datetimeFigureOut">
              <a:rPr lang="en-US" smtClean="0"/>
              <a:pPr/>
              <a:t>11/7/2025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C005D81-1560-4BFE-91A5-0D5BAFD5DEAD}" type="slidenum">
              <a:rPr lang="en-US" smtClean="0"/>
              <a:pPr/>
              <a:t>‹#›</a:t>
            </a:fld>
            <a:endParaRPr lang="en-US" dirty="0"/>
          </a:p>
        </p:txBody>
      </p:sp>
    </p:spTree>
    <p:extLst>
      <p:ext uri="{BB962C8B-B14F-4D97-AF65-F5344CB8AC3E}">
        <p14:creationId xmlns:p14="http://schemas.microsoft.com/office/powerpoint/2010/main" val="425552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D6AA2C1-30FE-4A5B-9F15-98834576BABB}" type="datetimeFigureOut">
              <a:rPr lang="en-US" smtClean="0"/>
              <a:pPr/>
              <a:t>11/7/2025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005D81-1560-4BFE-91A5-0D5BAFD5DEAD}" type="slidenum">
              <a:rPr lang="en-US" smtClean="0"/>
              <a:pPr/>
              <a:t>‹#›</a:t>
            </a:fld>
            <a:endParaRPr lang="en-US" dirty="0"/>
          </a:p>
        </p:txBody>
      </p:sp>
    </p:spTree>
    <p:extLst>
      <p:ext uri="{BB962C8B-B14F-4D97-AF65-F5344CB8AC3E}">
        <p14:creationId xmlns:p14="http://schemas.microsoft.com/office/powerpoint/2010/main" val="23694814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2" Type="http://schemas.openxmlformats.org/officeDocument/2006/relationships/image" Target="../media/image3.jpeg"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0"/>
            <a:ext cx="12196053" cy="6858000"/>
          </a:xfrm>
          <a:prstGeom prst="rect">
            <a:avLst/>
          </a:prstGeom>
        </p:spPr>
      </p:pic>
      <p:sp>
        <p:nvSpPr>
          <p:cNvPr id="4" name="TextBox 3"/>
          <p:cNvSpPr txBox="1"/>
          <p:nvPr/>
        </p:nvSpPr>
        <p:spPr>
          <a:xfrm>
            <a:off x="914400" y="3909848"/>
            <a:ext cx="9824484" cy="1754326"/>
          </a:xfrm>
          <a:prstGeom prst="rect">
            <a:avLst/>
          </a:prstGeom>
          <a:noFill/>
        </p:spPr>
        <p:txBody>
          <a:bodyPr wrap="square" rtlCol="0">
            <a:spAutoFit/>
          </a:bodyPr>
          <a:lstStyle/>
          <a:p>
            <a:r>
              <a:rPr lang="en-US" sz="3600" b="1" dirty="0"/>
              <a:t>Title: </a:t>
            </a:r>
            <a:r>
              <a:rPr lang="en-US" sz="3600" b="1" dirty="0">
                <a:ln w="0"/>
                <a:solidFill>
                  <a:schemeClr val="accent5">
                    <a:lumMod val="50000"/>
                  </a:schemeClr>
                </a:solidFill>
                <a:effectLst>
                  <a:reflection blurRad="6350" stA="53000" endA="300" endPos="35500" dir="5400000" sy="-90000" algn="bl" rotWithShape="0"/>
                </a:effectLst>
                <a:latin typeface="Bookman Old Style" pitchFamily="18" charset="0"/>
                <a:ea typeface="Batang" pitchFamily="18" charset="-127"/>
              </a:rPr>
              <a:t>Scientific Thinking</a:t>
            </a:r>
          </a:p>
          <a:p>
            <a:r>
              <a:rPr lang="en-US" sz="3600" dirty="0"/>
              <a:t>Steps of Scientific Method</a:t>
            </a:r>
          </a:p>
          <a:p>
            <a:r>
              <a:rPr lang="en-US" sz="3600" dirty="0"/>
              <a:t> </a:t>
            </a:r>
            <a:r>
              <a:rPr lang="en-US" sz="3600" b="1" dirty="0"/>
              <a:t> </a:t>
            </a:r>
          </a:p>
        </p:txBody>
      </p:sp>
    </p:spTree>
    <p:extLst>
      <p:ext uri="{BB962C8B-B14F-4D97-AF65-F5344CB8AC3E}">
        <p14:creationId xmlns:p14="http://schemas.microsoft.com/office/powerpoint/2010/main" val="41049375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44430"/>
          </a:xfrm>
          <a:prstGeom prst="rect">
            <a:avLst/>
          </a:prstGeom>
        </p:spPr>
      </p:pic>
      <p:cxnSp>
        <p:nvCxnSpPr>
          <p:cNvPr id="15" name="Straight Connector 14"/>
          <p:cNvCxnSpPr/>
          <p:nvPr/>
        </p:nvCxnSpPr>
        <p:spPr>
          <a:xfrm flipV="1">
            <a:off x="178802" y="760653"/>
            <a:ext cx="11592784" cy="29275"/>
          </a:xfrm>
          <a:prstGeom prst="line">
            <a:avLst/>
          </a:prstGeom>
        </p:spPr>
        <p:style>
          <a:lnRef idx="1">
            <a:schemeClr val="dk1"/>
          </a:lnRef>
          <a:fillRef idx="0">
            <a:schemeClr val="dk1"/>
          </a:fillRef>
          <a:effectRef idx="0">
            <a:schemeClr val="dk1"/>
          </a:effectRef>
          <a:fontRef idx="minor">
            <a:schemeClr val="tx1"/>
          </a:fontRef>
        </p:style>
      </p:cxnSp>
      <p:sp>
        <p:nvSpPr>
          <p:cNvPr id="9" name="TextBox 8"/>
          <p:cNvSpPr txBox="1"/>
          <p:nvPr/>
        </p:nvSpPr>
        <p:spPr>
          <a:xfrm>
            <a:off x="178801" y="328263"/>
            <a:ext cx="7391579" cy="984885"/>
          </a:xfrm>
          <a:prstGeom prst="rect">
            <a:avLst/>
          </a:prstGeom>
          <a:noFill/>
        </p:spPr>
        <p:txBody>
          <a:bodyPr wrap="square" rtlCol="0">
            <a:spAutoFit/>
          </a:bodyPr>
          <a:lstStyle/>
          <a:p>
            <a:r>
              <a:rPr lang="en-US" sz="2400" b="1" dirty="0">
                <a:ln w="0"/>
                <a:solidFill>
                  <a:schemeClr val="accent5">
                    <a:lumMod val="50000"/>
                  </a:schemeClr>
                </a:solidFill>
                <a:effectLst>
                  <a:reflection blurRad="6350" stA="53000" endA="300" endPos="35500" dir="5400000" sy="-90000" algn="bl" rotWithShape="0"/>
                </a:effectLst>
                <a:latin typeface="Bookman Old Style" pitchFamily="18" charset="0"/>
                <a:ea typeface="Batang" pitchFamily="18" charset="-127"/>
              </a:rPr>
              <a:t>Scientific Thinking </a:t>
            </a:r>
          </a:p>
          <a:p>
            <a:endParaRPr lang="en-US" sz="1000" b="1" dirty="0">
              <a:ln w="0"/>
              <a:solidFill>
                <a:schemeClr val="accent5">
                  <a:lumMod val="50000"/>
                </a:schemeClr>
              </a:solidFill>
              <a:effectLst>
                <a:reflection blurRad="6350" stA="53000" endA="300" endPos="35500" dir="5400000" sy="-90000" algn="bl" rotWithShape="0"/>
              </a:effectLst>
              <a:latin typeface="Bookman Old Style" pitchFamily="18" charset="0"/>
              <a:ea typeface="Batang" pitchFamily="18" charset="-127"/>
            </a:endParaRPr>
          </a:p>
          <a:p>
            <a:r>
              <a:rPr lang="en-US" sz="2400" dirty="0"/>
              <a:t>Steps of Scientific Method</a:t>
            </a:r>
            <a:endParaRPr lang="en-US" sz="2400" b="1" u="sng" dirty="0"/>
          </a:p>
        </p:txBody>
      </p:sp>
      <p:sp>
        <p:nvSpPr>
          <p:cNvPr id="6" name="Rounded Rectangle 5"/>
          <p:cNvSpPr/>
          <p:nvPr/>
        </p:nvSpPr>
        <p:spPr>
          <a:xfrm>
            <a:off x="1028760" y="1619137"/>
            <a:ext cx="9534135" cy="1657463"/>
          </a:xfrm>
          <a:prstGeom prst="round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spc="50" dirty="0">
                <a:ln w="12700" cmpd="sng">
                  <a:prstDash val="solid"/>
                </a:ln>
                <a:solidFill>
                  <a:schemeClr val="tx1"/>
                </a:solidFill>
                <a:effectLst>
                  <a:glow rad="101600">
                    <a:schemeClr val="accent2">
                      <a:lumMod val="40000"/>
                      <a:lumOff val="60000"/>
                      <a:alpha val="40000"/>
                    </a:schemeClr>
                  </a:glow>
                </a:effectLst>
              </a:rPr>
              <a:t>The ‘scientific method’ merely refers to a broad framework for studying and learning more about the world around us in a scientific manner. </a:t>
            </a:r>
          </a:p>
        </p:txBody>
      </p:sp>
      <p:sp>
        <p:nvSpPr>
          <p:cNvPr id="7" name="Rounded Rectangle 6"/>
          <p:cNvSpPr/>
          <p:nvPr/>
        </p:nvSpPr>
        <p:spPr>
          <a:xfrm>
            <a:off x="1011040" y="3611880"/>
            <a:ext cx="9534135" cy="2194560"/>
          </a:xfrm>
          <a:prstGeom prst="round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spc="50" dirty="0">
                <a:ln w="12700" cmpd="sng">
                  <a:prstDash val="solid"/>
                </a:ln>
                <a:solidFill>
                  <a:schemeClr val="tx1"/>
                </a:solidFill>
                <a:effectLst>
                  <a:glow rad="101600">
                    <a:schemeClr val="accent2">
                      <a:lumMod val="40000"/>
                      <a:lumOff val="60000"/>
                      <a:alpha val="40000"/>
                    </a:schemeClr>
                  </a:glow>
                </a:effectLst>
              </a:rPr>
              <a:t>Scientists attempt to predict and perhaps control future events based on present and past knowledge. The ability to make accurate predictions usually follows these seven steps: </a:t>
            </a:r>
          </a:p>
        </p:txBody>
      </p:sp>
    </p:spTree>
    <p:extLst>
      <p:ext uri="{BB962C8B-B14F-4D97-AF65-F5344CB8AC3E}">
        <p14:creationId xmlns:p14="http://schemas.microsoft.com/office/powerpoint/2010/main" val="31638035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44430"/>
          </a:xfrm>
          <a:prstGeom prst="rect">
            <a:avLst/>
          </a:prstGeom>
        </p:spPr>
      </p:pic>
      <p:cxnSp>
        <p:nvCxnSpPr>
          <p:cNvPr id="15" name="Straight Connector 14"/>
          <p:cNvCxnSpPr/>
          <p:nvPr/>
        </p:nvCxnSpPr>
        <p:spPr>
          <a:xfrm flipV="1">
            <a:off x="178802" y="760653"/>
            <a:ext cx="11592784" cy="29275"/>
          </a:xfrm>
          <a:prstGeom prst="line">
            <a:avLst/>
          </a:prstGeom>
        </p:spPr>
        <p:style>
          <a:lnRef idx="1">
            <a:schemeClr val="dk1"/>
          </a:lnRef>
          <a:fillRef idx="0">
            <a:schemeClr val="dk1"/>
          </a:fillRef>
          <a:effectRef idx="0">
            <a:schemeClr val="dk1"/>
          </a:effectRef>
          <a:fontRef idx="minor">
            <a:schemeClr val="tx1"/>
          </a:fontRef>
        </p:style>
      </p:cxnSp>
      <p:sp>
        <p:nvSpPr>
          <p:cNvPr id="9" name="TextBox 8"/>
          <p:cNvSpPr txBox="1"/>
          <p:nvPr/>
        </p:nvSpPr>
        <p:spPr>
          <a:xfrm>
            <a:off x="178801" y="328263"/>
            <a:ext cx="7391579" cy="984885"/>
          </a:xfrm>
          <a:prstGeom prst="rect">
            <a:avLst/>
          </a:prstGeom>
          <a:noFill/>
        </p:spPr>
        <p:txBody>
          <a:bodyPr wrap="square" rtlCol="0">
            <a:spAutoFit/>
          </a:bodyPr>
          <a:lstStyle/>
          <a:p>
            <a:r>
              <a:rPr lang="en-US" sz="2400" b="1" dirty="0">
                <a:ln w="0"/>
                <a:solidFill>
                  <a:schemeClr val="accent5">
                    <a:lumMod val="50000"/>
                  </a:schemeClr>
                </a:solidFill>
                <a:effectLst>
                  <a:reflection blurRad="6350" stA="53000" endA="300" endPos="35500" dir="5400000" sy="-90000" algn="bl" rotWithShape="0"/>
                </a:effectLst>
                <a:latin typeface="Bookman Old Style" pitchFamily="18" charset="0"/>
                <a:ea typeface="Batang" pitchFamily="18" charset="-127"/>
              </a:rPr>
              <a:t>Scientific Thinking </a:t>
            </a:r>
          </a:p>
          <a:p>
            <a:endParaRPr lang="en-US" sz="1000" b="1" dirty="0">
              <a:ln w="0"/>
              <a:solidFill>
                <a:schemeClr val="accent5">
                  <a:lumMod val="50000"/>
                </a:schemeClr>
              </a:solidFill>
              <a:effectLst>
                <a:reflection blurRad="6350" stA="53000" endA="300" endPos="35500" dir="5400000" sy="-90000" algn="bl" rotWithShape="0"/>
              </a:effectLst>
              <a:latin typeface="Bookman Old Style" pitchFamily="18" charset="0"/>
              <a:ea typeface="Batang" pitchFamily="18" charset="-127"/>
            </a:endParaRPr>
          </a:p>
          <a:p>
            <a:r>
              <a:rPr lang="en-US" sz="2400" dirty="0"/>
              <a:t>Steps of Scientific Method</a:t>
            </a:r>
            <a:endParaRPr lang="en-US" sz="2400" b="1" u="sng" dirty="0"/>
          </a:p>
        </p:txBody>
      </p:sp>
      <p:sp>
        <p:nvSpPr>
          <p:cNvPr id="6" name="Rounded Rectangle 5"/>
          <p:cNvSpPr/>
          <p:nvPr/>
        </p:nvSpPr>
        <p:spPr>
          <a:xfrm>
            <a:off x="1028760" y="2362200"/>
            <a:ext cx="9534135" cy="1889760"/>
          </a:xfrm>
          <a:prstGeom prst="round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155700">
              <a:lnSpc>
                <a:spcPct val="90000"/>
              </a:lnSpc>
              <a:spcBef>
                <a:spcPct val="0"/>
              </a:spcBef>
              <a:spcAft>
                <a:spcPct val="35000"/>
              </a:spcAft>
            </a:pPr>
            <a:r>
              <a:rPr lang="en-US" sz="2800" b="1" spc="50" dirty="0">
                <a:ln w="12700" cmpd="sng">
                  <a:prstDash val="solid"/>
                </a:ln>
                <a:solidFill>
                  <a:schemeClr val="tx1"/>
                </a:solidFill>
                <a:effectLst>
                  <a:glow rad="101600">
                    <a:schemeClr val="accent2">
                      <a:lumMod val="40000"/>
                      <a:lumOff val="60000"/>
                      <a:alpha val="40000"/>
                    </a:schemeClr>
                  </a:glow>
                </a:effectLst>
              </a:rPr>
              <a:t>An observation is the use of one or more of the five senses, which include seeing, hearing, feeling, smelling, and tasting. The five senses are used to learn about or identify an event or object the scientist wants to study.</a:t>
            </a:r>
          </a:p>
        </p:txBody>
      </p:sp>
      <p:sp>
        <p:nvSpPr>
          <p:cNvPr id="8" name="Rectangle 7"/>
          <p:cNvSpPr/>
          <p:nvPr/>
        </p:nvSpPr>
        <p:spPr>
          <a:xfrm>
            <a:off x="935666" y="1450205"/>
            <a:ext cx="9579934" cy="769441"/>
          </a:xfrm>
          <a:prstGeom prst="rect">
            <a:avLst/>
          </a:prstGeom>
          <a:noFill/>
        </p:spPr>
        <p:txBody>
          <a:bodyPr wrap="square" lIns="91440" tIns="45720" rIns="91440" bIns="45720">
            <a:spAutoFit/>
          </a:bodyPr>
          <a:lstStyle/>
          <a:p>
            <a:r>
              <a:rPr lang="en-US" sz="4400" b="1" dirty="0"/>
              <a:t>Step 1: Make Observations</a:t>
            </a:r>
            <a:endParaRPr lang="en-US" sz="4400" dirty="0"/>
          </a:p>
        </p:txBody>
      </p:sp>
      <p:sp>
        <p:nvSpPr>
          <p:cNvPr id="11" name="Rounded Rectangle 10"/>
          <p:cNvSpPr/>
          <p:nvPr/>
        </p:nvSpPr>
        <p:spPr>
          <a:xfrm>
            <a:off x="1011040" y="4556760"/>
            <a:ext cx="9534135" cy="1752600"/>
          </a:xfrm>
          <a:prstGeom prst="round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spc="50" dirty="0">
                <a:ln w="12700" cmpd="sng">
                  <a:prstDash val="solid"/>
                </a:ln>
                <a:solidFill>
                  <a:schemeClr val="tx1"/>
                </a:solidFill>
                <a:effectLst>
                  <a:glow rad="101600">
                    <a:schemeClr val="accent2">
                      <a:lumMod val="40000"/>
                      <a:lumOff val="60000"/>
                      <a:alpha val="40000"/>
                    </a:schemeClr>
                  </a:glow>
                </a:effectLst>
              </a:rPr>
              <a:t>These observations should be objective, not subjective. In other words, the observations should be capable of verification by other scientists.</a:t>
            </a:r>
          </a:p>
        </p:txBody>
      </p:sp>
    </p:spTree>
    <p:extLst>
      <p:ext uri="{BB962C8B-B14F-4D97-AF65-F5344CB8AC3E}">
        <p14:creationId xmlns:p14="http://schemas.microsoft.com/office/powerpoint/2010/main" val="31638035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44430"/>
          </a:xfrm>
          <a:prstGeom prst="rect">
            <a:avLst/>
          </a:prstGeom>
        </p:spPr>
      </p:pic>
      <p:cxnSp>
        <p:nvCxnSpPr>
          <p:cNvPr id="15" name="Straight Connector 14"/>
          <p:cNvCxnSpPr/>
          <p:nvPr/>
        </p:nvCxnSpPr>
        <p:spPr>
          <a:xfrm flipV="1">
            <a:off x="178802" y="760653"/>
            <a:ext cx="11592784" cy="29275"/>
          </a:xfrm>
          <a:prstGeom prst="line">
            <a:avLst/>
          </a:prstGeom>
        </p:spPr>
        <p:style>
          <a:lnRef idx="1">
            <a:schemeClr val="dk1"/>
          </a:lnRef>
          <a:fillRef idx="0">
            <a:schemeClr val="dk1"/>
          </a:fillRef>
          <a:effectRef idx="0">
            <a:schemeClr val="dk1"/>
          </a:effectRef>
          <a:fontRef idx="minor">
            <a:schemeClr val="tx1"/>
          </a:fontRef>
        </p:style>
      </p:cxnSp>
      <p:sp>
        <p:nvSpPr>
          <p:cNvPr id="9" name="TextBox 8"/>
          <p:cNvSpPr txBox="1"/>
          <p:nvPr/>
        </p:nvSpPr>
        <p:spPr>
          <a:xfrm>
            <a:off x="178801" y="328263"/>
            <a:ext cx="7391579" cy="984885"/>
          </a:xfrm>
          <a:prstGeom prst="rect">
            <a:avLst/>
          </a:prstGeom>
          <a:noFill/>
        </p:spPr>
        <p:txBody>
          <a:bodyPr wrap="square" rtlCol="0">
            <a:spAutoFit/>
          </a:bodyPr>
          <a:lstStyle/>
          <a:p>
            <a:r>
              <a:rPr lang="en-US" sz="2400" b="1" dirty="0">
                <a:ln w="0"/>
                <a:solidFill>
                  <a:schemeClr val="accent5">
                    <a:lumMod val="50000"/>
                  </a:schemeClr>
                </a:solidFill>
                <a:effectLst>
                  <a:reflection blurRad="6350" stA="53000" endA="300" endPos="35500" dir="5400000" sy="-90000" algn="bl" rotWithShape="0"/>
                </a:effectLst>
                <a:latin typeface="Bookman Old Style" pitchFamily="18" charset="0"/>
                <a:ea typeface="Batang" pitchFamily="18" charset="-127"/>
              </a:rPr>
              <a:t>Scientific Thinking </a:t>
            </a:r>
          </a:p>
          <a:p>
            <a:endParaRPr lang="en-US" sz="1000" b="1" dirty="0">
              <a:ln w="0"/>
              <a:solidFill>
                <a:schemeClr val="accent5">
                  <a:lumMod val="50000"/>
                </a:schemeClr>
              </a:solidFill>
              <a:effectLst>
                <a:reflection blurRad="6350" stA="53000" endA="300" endPos="35500" dir="5400000" sy="-90000" algn="bl" rotWithShape="0"/>
              </a:effectLst>
              <a:latin typeface="Bookman Old Style" pitchFamily="18" charset="0"/>
              <a:ea typeface="Batang" pitchFamily="18" charset="-127"/>
            </a:endParaRPr>
          </a:p>
          <a:p>
            <a:r>
              <a:rPr lang="en-US" sz="2400" dirty="0"/>
              <a:t>Steps of Scientific Method</a:t>
            </a:r>
            <a:endParaRPr lang="en-US" sz="2400" b="1" u="sng" dirty="0"/>
          </a:p>
        </p:txBody>
      </p:sp>
      <p:sp>
        <p:nvSpPr>
          <p:cNvPr id="6" name="Rounded Rectangle 5"/>
          <p:cNvSpPr/>
          <p:nvPr/>
        </p:nvSpPr>
        <p:spPr>
          <a:xfrm>
            <a:off x="1028760" y="2991394"/>
            <a:ext cx="9534135" cy="1793966"/>
          </a:xfrm>
          <a:prstGeom prst="round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155700">
              <a:lnSpc>
                <a:spcPct val="90000"/>
              </a:lnSpc>
              <a:spcBef>
                <a:spcPct val="0"/>
              </a:spcBef>
              <a:spcAft>
                <a:spcPct val="35000"/>
              </a:spcAft>
            </a:pPr>
            <a:r>
              <a:rPr lang="en-US" sz="2800" b="1" spc="50" dirty="0">
                <a:ln w="12700" cmpd="sng">
                  <a:prstDash val="solid"/>
                </a:ln>
                <a:solidFill>
                  <a:schemeClr val="tx1"/>
                </a:solidFill>
                <a:effectLst>
                  <a:glow rad="101600">
                    <a:schemeClr val="accent2">
                      <a:lumMod val="40000"/>
                      <a:lumOff val="60000"/>
                      <a:alpha val="40000"/>
                    </a:schemeClr>
                  </a:glow>
                </a:effectLst>
              </a:rPr>
              <a:t>Scientists use their knowledge of past events to develop a general principle or explanation to help predict future events. The general principle is called a hypothesis.</a:t>
            </a:r>
          </a:p>
        </p:txBody>
      </p:sp>
      <p:sp>
        <p:nvSpPr>
          <p:cNvPr id="8" name="Rectangle 7"/>
          <p:cNvSpPr/>
          <p:nvPr/>
        </p:nvSpPr>
        <p:spPr>
          <a:xfrm>
            <a:off x="935666" y="1648325"/>
            <a:ext cx="9579934" cy="769441"/>
          </a:xfrm>
          <a:prstGeom prst="rect">
            <a:avLst/>
          </a:prstGeom>
          <a:noFill/>
        </p:spPr>
        <p:txBody>
          <a:bodyPr wrap="square" lIns="91440" tIns="45720" rIns="91440" bIns="45720">
            <a:spAutoFit/>
          </a:bodyPr>
          <a:lstStyle/>
          <a:p>
            <a:r>
              <a:rPr lang="en-US" sz="4400" b="1" dirty="0"/>
              <a:t>Step 2: Form a Hypothesis</a:t>
            </a:r>
            <a:endParaRPr lang="en-US" sz="4400" dirty="0"/>
          </a:p>
        </p:txBody>
      </p:sp>
    </p:spTree>
    <p:extLst>
      <p:ext uri="{BB962C8B-B14F-4D97-AF65-F5344CB8AC3E}">
        <p14:creationId xmlns:p14="http://schemas.microsoft.com/office/powerpoint/2010/main" val="31638035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44430"/>
          </a:xfrm>
          <a:prstGeom prst="rect">
            <a:avLst/>
          </a:prstGeom>
        </p:spPr>
      </p:pic>
      <p:cxnSp>
        <p:nvCxnSpPr>
          <p:cNvPr id="15" name="Straight Connector 14"/>
          <p:cNvCxnSpPr/>
          <p:nvPr/>
        </p:nvCxnSpPr>
        <p:spPr>
          <a:xfrm flipV="1">
            <a:off x="178802" y="760653"/>
            <a:ext cx="11592784" cy="29275"/>
          </a:xfrm>
          <a:prstGeom prst="line">
            <a:avLst/>
          </a:prstGeom>
        </p:spPr>
        <p:style>
          <a:lnRef idx="1">
            <a:schemeClr val="dk1"/>
          </a:lnRef>
          <a:fillRef idx="0">
            <a:schemeClr val="dk1"/>
          </a:fillRef>
          <a:effectRef idx="0">
            <a:schemeClr val="dk1"/>
          </a:effectRef>
          <a:fontRef idx="minor">
            <a:schemeClr val="tx1"/>
          </a:fontRef>
        </p:style>
      </p:cxnSp>
      <p:sp>
        <p:nvSpPr>
          <p:cNvPr id="9" name="TextBox 8"/>
          <p:cNvSpPr txBox="1"/>
          <p:nvPr/>
        </p:nvSpPr>
        <p:spPr>
          <a:xfrm>
            <a:off x="178801" y="328263"/>
            <a:ext cx="7391579" cy="984885"/>
          </a:xfrm>
          <a:prstGeom prst="rect">
            <a:avLst/>
          </a:prstGeom>
          <a:noFill/>
        </p:spPr>
        <p:txBody>
          <a:bodyPr wrap="square" rtlCol="0">
            <a:spAutoFit/>
          </a:bodyPr>
          <a:lstStyle/>
          <a:p>
            <a:r>
              <a:rPr lang="en-US" sz="2400" b="1" dirty="0">
                <a:ln w="0"/>
                <a:solidFill>
                  <a:schemeClr val="accent5">
                    <a:lumMod val="50000"/>
                  </a:schemeClr>
                </a:solidFill>
                <a:effectLst>
                  <a:reflection blurRad="6350" stA="53000" endA="300" endPos="35500" dir="5400000" sy="-90000" algn="bl" rotWithShape="0"/>
                </a:effectLst>
                <a:latin typeface="Bookman Old Style" pitchFamily="18" charset="0"/>
                <a:ea typeface="Batang" pitchFamily="18" charset="-127"/>
              </a:rPr>
              <a:t>Scientific Thinking </a:t>
            </a:r>
          </a:p>
          <a:p>
            <a:endParaRPr lang="en-US" sz="1000" b="1" dirty="0">
              <a:ln w="0"/>
              <a:solidFill>
                <a:schemeClr val="accent5">
                  <a:lumMod val="50000"/>
                </a:schemeClr>
              </a:solidFill>
              <a:effectLst>
                <a:reflection blurRad="6350" stA="53000" endA="300" endPos="35500" dir="5400000" sy="-90000" algn="bl" rotWithShape="0"/>
              </a:effectLst>
              <a:latin typeface="Bookman Old Style" pitchFamily="18" charset="0"/>
              <a:ea typeface="Batang" pitchFamily="18" charset="-127"/>
            </a:endParaRPr>
          </a:p>
          <a:p>
            <a:r>
              <a:rPr lang="en-US" sz="2400" dirty="0"/>
              <a:t>Steps of Scientific Method</a:t>
            </a:r>
            <a:endParaRPr lang="en-US" sz="2400" b="1" u="sng" dirty="0"/>
          </a:p>
        </p:txBody>
      </p:sp>
      <p:sp>
        <p:nvSpPr>
          <p:cNvPr id="11" name="Rounded Rectangle 10"/>
          <p:cNvSpPr/>
          <p:nvPr/>
        </p:nvSpPr>
        <p:spPr>
          <a:xfrm>
            <a:off x="1011040" y="2225040"/>
            <a:ext cx="9534135" cy="3688080"/>
          </a:xfrm>
          <a:prstGeom prst="round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spc="50" dirty="0">
                <a:ln w="12700" cmpd="sng">
                  <a:prstDash val="solid"/>
                </a:ln>
                <a:solidFill>
                  <a:schemeClr val="tx1"/>
                </a:solidFill>
                <a:effectLst>
                  <a:glow rad="101600">
                    <a:schemeClr val="accent2">
                      <a:lumMod val="40000"/>
                      <a:lumOff val="60000"/>
                      <a:alpha val="40000"/>
                    </a:schemeClr>
                  </a:glow>
                </a:effectLst>
              </a:rPr>
              <a:t>A hypothesis should have the following characteristics:</a:t>
            </a:r>
          </a:p>
          <a:p>
            <a:r>
              <a:rPr lang="en-US" sz="2800" b="1" spc="50" dirty="0">
                <a:ln w="12700" cmpd="sng">
                  <a:prstDash val="solid"/>
                </a:ln>
                <a:solidFill>
                  <a:schemeClr val="tx1"/>
                </a:solidFill>
                <a:effectLst>
                  <a:glow rad="101600">
                    <a:schemeClr val="accent2">
                      <a:lumMod val="40000"/>
                      <a:lumOff val="60000"/>
                      <a:alpha val="40000"/>
                    </a:schemeClr>
                  </a:glow>
                </a:effectLst>
              </a:rPr>
              <a:t>• It should be a general principle that holds across space and time</a:t>
            </a:r>
          </a:p>
          <a:p>
            <a:r>
              <a:rPr lang="en-US" sz="2800" b="1" spc="50" dirty="0">
                <a:ln w="12700" cmpd="sng">
                  <a:prstDash val="solid"/>
                </a:ln>
                <a:solidFill>
                  <a:schemeClr val="tx1"/>
                </a:solidFill>
                <a:effectLst>
                  <a:glow rad="101600">
                    <a:schemeClr val="accent2">
                      <a:lumMod val="40000"/>
                      <a:lumOff val="60000"/>
                      <a:alpha val="40000"/>
                    </a:schemeClr>
                  </a:glow>
                </a:effectLst>
              </a:rPr>
              <a:t>• It should be a tentative idea</a:t>
            </a:r>
          </a:p>
          <a:p>
            <a:r>
              <a:rPr lang="en-US" sz="2800" b="1" spc="50" dirty="0">
                <a:ln w="12700" cmpd="sng">
                  <a:prstDash val="solid"/>
                </a:ln>
                <a:solidFill>
                  <a:schemeClr val="tx1"/>
                </a:solidFill>
                <a:effectLst>
                  <a:glow rad="101600">
                    <a:schemeClr val="accent2">
                      <a:lumMod val="40000"/>
                      <a:lumOff val="60000"/>
                      <a:alpha val="40000"/>
                    </a:schemeClr>
                  </a:glow>
                </a:effectLst>
              </a:rPr>
              <a:t>• It should agree with available observations</a:t>
            </a:r>
          </a:p>
          <a:p>
            <a:r>
              <a:rPr lang="en-US" sz="2800" b="1" spc="50" dirty="0">
                <a:ln w="12700" cmpd="sng">
                  <a:prstDash val="solid"/>
                </a:ln>
                <a:solidFill>
                  <a:schemeClr val="tx1"/>
                </a:solidFill>
                <a:effectLst>
                  <a:glow rad="101600">
                    <a:schemeClr val="accent2">
                      <a:lumMod val="40000"/>
                      <a:lumOff val="60000"/>
                      <a:alpha val="40000"/>
                    </a:schemeClr>
                  </a:glow>
                </a:effectLst>
              </a:rPr>
              <a:t>• It should be kept as simple as possible.</a:t>
            </a:r>
          </a:p>
          <a:p>
            <a:r>
              <a:rPr lang="en-US" sz="2800" b="1" spc="50" dirty="0">
                <a:ln w="12700" cmpd="sng">
                  <a:prstDash val="solid"/>
                </a:ln>
                <a:solidFill>
                  <a:schemeClr val="tx1"/>
                </a:solidFill>
                <a:effectLst>
                  <a:glow rad="101600">
                    <a:schemeClr val="accent2">
                      <a:lumMod val="40000"/>
                      <a:lumOff val="60000"/>
                      <a:alpha val="40000"/>
                    </a:schemeClr>
                  </a:glow>
                </a:effectLst>
              </a:rPr>
              <a:t>• It should be testable and potentially falsifiable. </a:t>
            </a:r>
          </a:p>
        </p:txBody>
      </p:sp>
    </p:spTree>
    <p:extLst>
      <p:ext uri="{BB962C8B-B14F-4D97-AF65-F5344CB8AC3E}">
        <p14:creationId xmlns:p14="http://schemas.microsoft.com/office/powerpoint/2010/main" val="31638035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44430"/>
          </a:xfrm>
          <a:prstGeom prst="rect">
            <a:avLst/>
          </a:prstGeom>
        </p:spPr>
      </p:pic>
      <p:cxnSp>
        <p:nvCxnSpPr>
          <p:cNvPr id="15" name="Straight Connector 14"/>
          <p:cNvCxnSpPr/>
          <p:nvPr/>
        </p:nvCxnSpPr>
        <p:spPr>
          <a:xfrm flipV="1">
            <a:off x="178802" y="760653"/>
            <a:ext cx="11592784" cy="29275"/>
          </a:xfrm>
          <a:prstGeom prst="line">
            <a:avLst/>
          </a:prstGeom>
        </p:spPr>
        <p:style>
          <a:lnRef idx="1">
            <a:schemeClr val="dk1"/>
          </a:lnRef>
          <a:fillRef idx="0">
            <a:schemeClr val="dk1"/>
          </a:fillRef>
          <a:effectRef idx="0">
            <a:schemeClr val="dk1"/>
          </a:effectRef>
          <a:fontRef idx="minor">
            <a:schemeClr val="tx1"/>
          </a:fontRef>
        </p:style>
      </p:cxnSp>
      <p:sp>
        <p:nvSpPr>
          <p:cNvPr id="9" name="TextBox 8"/>
          <p:cNvSpPr txBox="1"/>
          <p:nvPr/>
        </p:nvSpPr>
        <p:spPr>
          <a:xfrm>
            <a:off x="178801" y="328263"/>
            <a:ext cx="7391579" cy="1015663"/>
          </a:xfrm>
          <a:prstGeom prst="rect">
            <a:avLst/>
          </a:prstGeom>
          <a:noFill/>
        </p:spPr>
        <p:txBody>
          <a:bodyPr wrap="square" rtlCol="0">
            <a:spAutoFit/>
          </a:bodyPr>
          <a:lstStyle/>
          <a:p>
            <a:r>
              <a:rPr lang="en-US" sz="2400" b="1" dirty="0">
                <a:ln w="0"/>
                <a:solidFill>
                  <a:schemeClr val="accent5">
                    <a:lumMod val="50000"/>
                  </a:schemeClr>
                </a:solidFill>
                <a:effectLst>
                  <a:reflection blurRad="6350" stA="53000" endA="300" endPos="35500" dir="5400000" sy="-90000" algn="bl" rotWithShape="0"/>
                </a:effectLst>
                <a:latin typeface="Bookman Old Style" pitchFamily="18" charset="0"/>
                <a:ea typeface="Batang" pitchFamily="18" charset="-127"/>
              </a:rPr>
              <a:t>Scientific Thinking </a:t>
            </a:r>
          </a:p>
          <a:p>
            <a:endParaRPr lang="en-US" sz="1000" b="1" dirty="0">
              <a:ln w="0"/>
              <a:solidFill>
                <a:schemeClr val="accent5">
                  <a:lumMod val="50000"/>
                </a:schemeClr>
              </a:solidFill>
              <a:effectLst>
                <a:reflection blurRad="6350" stA="53000" endA="300" endPos="35500" dir="5400000" sy="-90000" algn="bl" rotWithShape="0"/>
              </a:effectLst>
              <a:latin typeface="Bookman Old Style" pitchFamily="18" charset="0"/>
              <a:ea typeface="Batang" pitchFamily="18" charset="-127"/>
            </a:endParaRPr>
          </a:p>
          <a:p>
            <a:r>
              <a:rPr lang="en-US" sz="2400" dirty="0"/>
              <a:t>Steps of Scientific Method</a:t>
            </a:r>
            <a:endParaRPr lang="en-US" sz="2400" b="1" u="sng" dirty="0"/>
          </a:p>
        </p:txBody>
      </p:sp>
      <p:sp>
        <p:nvSpPr>
          <p:cNvPr id="7" name="Rounded Rectangle 6"/>
          <p:cNvSpPr/>
          <p:nvPr/>
        </p:nvSpPr>
        <p:spPr>
          <a:xfrm>
            <a:off x="1011040" y="2301240"/>
            <a:ext cx="9534135" cy="3947159"/>
          </a:xfrm>
          <a:prstGeom prst="round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1155700">
              <a:lnSpc>
                <a:spcPct val="90000"/>
              </a:lnSpc>
              <a:spcBef>
                <a:spcPct val="0"/>
              </a:spcBef>
              <a:spcAft>
                <a:spcPct val="35000"/>
              </a:spcAft>
            </a:pPr>
            <a:r>
              <a:rPr lang="en-US" sz="2800" b="1" spc="50" dirty="0">
                <a:ln w="12700" cmpd="sng">
                  <a:prstDash val="solid"/>
                </a:ln>
                <a:solidFill>
                  <a:schemeClr val="tx1"/>
                </a:solidFill>
                <a:effectLst>
                  <a:glow rad="101600">
                    <a:schemeClr val="accent2">
                      <a:lumMod val="40000"/>
                      <a:lumOff val="60000"/>
                      <a:alpha val="40000"/>
                    </a:schemeClr>
                  </a:glow>
                </a:effectLst>
              </a:rPr>
              <a:t>How can we decide if our hypothesis is true?</a:t>
            </a:r>
          </a:p>
          <a:p>
            <a:pPr defTabSz="1155700">
              <a:lnSpc>
                <a:spcPct val="90000"/>
              </a:lnSpc>
              <a:spcBef>
                <a:spcPct val="0"/>
              </a:spcBef>
              <a:spcAft>
                <a:spcPct val="35000"/>
              </a:spcAft>
            </a:pPr>
            <a:r>
              <a:rPr lang="en-US" sz="2800" b="1" spc="50" dirty="0">
                <a:ln w="12700" cmpd="sng">
                  <a:prstDash val="solid"/>
                </a:ln>
                <a:solidFill>
                  <a:schemeClr val="tx1"/>
                </a:solidFill>
                <a:effectLst>
                  <a:glow rad="101600">
                    <a:schemeClr val="accent2">
                      <a:lumMod val="40000"/>
                      <a:lumOff val="60000"/>
                      <a:alpha val="40000"/>
                    </a:schemeClr>
                  </a:glow>
                </a:effectLst>
              </a:rPr>
              <a:t>Let’s consider the hypothesis: All plant cells have a nucleus. We cannot examine every living plant and every plant that has ever lived to see if this hypothesis is false. Instead, we generate a prediction using deductive reasoning.</a:t>
            </a:r>
          </a:p>
          <a:p>
            <a:pPr defTabSz="1155700">
              <a:lnSpc>
                <a:spcPct val="90000"/>
              </a:lnSpc>
              <a:spcBef>
                <a:spcPct val="0"/>
              </a:spcBef>
              <a:spcAft>
                <a:spcPct val="35000"/>
              </a:spcAft>
            </a:pPr>
            <a:r>
              <a:rPr lang="en-US" sz="2800" b="1" spc="50" dirty="0">
                <a:ln w="12700" cmpd="sng">
                  <a:prstDash val="solid"/>
                </a:ln>
                <a:solidFill>
                  <a:schemeClr val="tx1"/>
                </a:solidFill>
                <a:effectLst>
                  <a:glow rad="101600">
                    <a:schemeClr val="accent2">
                      <a:lumMod val="40000"/>
                      <a:lumOff val="60000"/>
                      <a:alpha val="40000"/>
                    </a:schemeClr>
                  </a:glow>
                </a:effectLst>
              </a:rPr>
              <a:t>From our hypothesis, we can make the following prediction: If I examine cells from a blade of grass, each one will have a nucleus.</a:t>
            </a:r>
          </a:p>
        </p:txBody>
      </p:sp>
      <p:sp>
        <p:nvSpPr>
          <p:cNvPr id="6" name="Rectangle 5"/>
          <p:cNvSpPr/>
          <p:nvPr/>
        </p:nvSpPr>
        <p:spPr>
          <a:xfrm>
            <a:off x="935666" y="1450205"/>
            <a:ext cx="9579934" cy="769441"/>
          </a:xfrm>
          <a:prstGeom prst="rect">
            <a:avLst/>
          </a:prstGeom>
          <a:noFill/>
        </p:spPr>
        <p:txBody>
          <a:bodyPr wrap="square" lIns="91440" tIns="45720" rIns="91440" bIns="45720">
            <a:spAutoFit/>
          </a:bodyPr>
          <a:lstStyle/>
          <a:p>
            <a:r>
              <a:rPr lang="en-US" sz="4400" b="1" dirty="0"/>
              <a:t>Step 3: Make a Prediction</a:t>
            </a:r>
            <a:endParaRPr lang="en-US" sz="4400" dirty="0"/>
          </a:p>
        </p:txBody>
      </p:sp>
    </p:spTree>
    <p:extLst>
      <p:ext uri="{BB962C8B-B14F-4D97-AF65-F5344CB8AC3E}">
        <p14:creationId xmlns:p14="http://schemas.microsoft.com/office/powerpoint/2010/main" val="31638035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44430"/>
          </a:xfrm>
          <a:prstGeom prst="rect">
            <a:avLst/>
          </a:prstGeom>
        </p:spPr>
      </p:pic>
      <p:cxnSp>
        <p:nvCxnSpPr>
          <p:cNvPr id="15" name="Straight Connector 14"/>
          <p:cNvCxnSpPr/>
          <p:nvPr/>
        </p:nvCxnSpPr>
        <p:spPr>
          <a:xfrm flipV="1">
            <a:off x="178802" y="760653"/>
            <a:ext cx="11592784" cy="29275"/>
          </a:xfrm>
          <a:prstGeom prst="line">
            <a:avLst/>
          </a:prstGeom>
        </p:spPr>
        <p:style>
          <a:lnRef idx="1">
            <a:schemeClr val="dk1"/>
          </a:lnRef>
          <a:fillRef idx="0">
            <a:schemeClr val="dk1"/>
          </a:fillRef>
          <a:effectRef idx="0">
            <a:schemeClr val="dk1"/>
          </a:effectRef>
          <a:fontRef idx="minor">
            <a:schemeClr val="tx1"/>
          </a:fontRef>
        </p:style>
      </p:cxnSp>
      <p:sp>
        <p:nvSpPr>
          <p:cNvPr id="9" name="TextBox 8"/>
          <p:cNvSpPr txBox="1"/>
          <p:nvPr/>
        </p:nvSpPr>
        <p:spPr>
          <a:xfrm>
            <a:off x="178801" y="328263"/>
            <a:ext cx="7391579" cy="1015663"/>
          </a:xfrm>
          <a:prstGeom prst="rect">
            <a:avLst/>
          </a:prstGeom>
          <a:noFill/>
        </p:spPr>
        <p:txBody>
          <a:bodyPr wrap="square" rtlCol="0">
            <a:spAutoFit/>
          </a:bodyPr>
          <a:lstStyle/>
          <a:p>
            <a:r>
              <a:rPr lang="en-US" sz="2400" b="1" dirty="0">
                <a:ln w="0"/>
                <a:solidFill>
                  <a:schemeClr val="accent5">
                    <a:lumMod val="50000"/>
                  </a:schemeClr>
                </a:solidFill>
                <a:effectLst>
                  <a:reflection blurRad="6350" stA="53000" endA="300" endPos="35500" dir="5400000" sy="-90000" algn="bl" rotWithShape="0"/>
                </a:effectLst>
                <a:latin typeface="Bookman Old Style" pitchFamily="18" charset="0"/>
                <a:ea typeface="Batang" pitchFamily="18" charset="-127"/>
              </a:rPr>
              <a:t>Scientific Thinking </a:t>
            </a:r>
          </a:p>
          <a:p>
            <a:endParaRPr lang="en-US" sz="1000" b="1" dirty="0">
              <a:ln w="0"/>
              <a:solidFill>
                <a:schemeClr val="accent5">
                  <a:lumMod val="50000"/>
                </a:schemeClr>
              </a:solidFill>
              <a:effectLst>
                <a:reflection blurRad="6350" stA="53000" endA="300" endPos="35500" dir="5400000" sy="-90000" algn="bl" rotWithShape="0"/>
              </a:effectLst>
              <a:latin typeface="Bookman Old Style" pitchFamily="18" charset="0"/>
              <a:ea typeface="Batang" pitchFamily="18" charset="-127"/>
            </a:endParaRPr>
          </a:p>
          <a:p>
            <a:r>
              <a:rPr lang="en-US" sz="2400" dirty="0"/>
              <a:t>Steps of Scientific Method</a:t>
            </a:r>
            <a:endParaRPr lang="en-US" sz="2400" b="1" u="sng" dirty="0"/>
          </a:p>
        </p:txBody>
      </p:sp>
      <p:sp>
        <p:nvSpPr>
          <p:cNvPr id="6" name="Rounded Rectangle 5"/>
          <p:cNvSpPr/>
          <p:nvPr/>
        </p:nvSpPr>
        <p:spPr>
          <a:xfrm>
            <a:off x="1028760" y="2590800"/>
            <a:ext cx="9534135" cy="1630680"/>
          </a:xfrm>
          <a:prstGeom prst="round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spc="50" dirty="0">
                <a:ln w="12700" cmpd="sng">
                  <a:prstDash val="solid"/>
                </a:ln>
                <a:solidFill>
                  <a:schemeClr val="tx1"/>
                </a:solidFill>
                <a:effectLst>
                  <a:glow rad="101600">
                    <a:schemeClr val="accent2">
                      <a:lumMod val="40000"/>
                      <a:lumOff val="60000"/>
                      <a:alpha val="40000"/>
                    </a:schemeClr>
                  </a:glow>
                </a:effectLst>
              </a:rPr>
              <a:t>We rely again on our sensory perception to collect information. We design an experiment based on our prediction.</a:t>
            </a:r>
          </a:p>
        </p:txBody>
      </p:sp>
      <p:sp>
        <p:nvSpPr>
          <p:cNvPr id="8" name="Rectangle 7"/>
          <p:cNvSpPr/>
          <p:nvPr/>
        </p:nvSpPr>
        <p:spPr>
          <a:xfrm>
            <a:off x="935666" y="1359475"/>
            <a:ext cx="8132134" cy="769441"/>
          </a:xfrm>
          <a:prstGeom prst="rect">
            <a:avLst/>
          </a:prstGeom>
          <a:noFill/>
        </p:spPr>
        <p:txBody>
          <a:bodyPr wrap="square" lIns="91440" tIns="45720" rIns="91440" bIns="45720">
            <a:spAutoFit/>
          </a:bodyPr>
          <a:lstStyle/>
          <a:p>
            <a:r>
              <a:rPr lang="en-US" sz="4200" b="1" spc="50" dirty="0">
                <a:ln w="12700" cmpd="sng">
                  <a:prstDash val="solid"/>
                </a:ln>
                <a:effectLst>
                  <a:glow rad="101600">
                    <a:schemeClr val="accent2">
                      <a:lumMod val="40000"/>
                      <a:lumOff val="60000"/>
                      <a:alpha val="40000"/>
                    </a:schemeClr>
                  </a:glow>
                </a:effectLst>
              </a:rPr>
              <a:t>4-  </a:t>
            </a:r>
            <a:r>
              <a:rPr lang="en-US" sz="4400" b="1" dirty="0"/>
              <a:t>Perform an Experiment</a:t>
            </a:r>
            <a:endParaRPr lang="en-US" sz="4200" b="1" dirty="0">
              <a:ln w="9525">
                <a:solidFill>
                  <a:schemeClr val="bg1"/>
                </a:solidFill>
                <a:prstDash val="solid"/>
              </a:ln>
              <a:effectLst>
                <a:outerShdw blurRad="12700" dist="38100" dir="2700000" algn="tl" rotWithShape="0">
                  <a:schemeClr val="bg1">
                    <a:lumMod val="50000"/>
                  </a:schemeClr>
                </a:outerShdw>
              </a:effectLst>
            </a:endParaRPr>
          </a:p>
        </p:txBody>
      </p:sp>
    </p:spTree>
    <p:extLst>
      <p:ext uri="{BB962C8B-B14F-4D97-AF65-F5344CB8AC3E}">
        <p14:creationId xmlns:p14="http://schemas.microsoft.com/office/powerpoint/2010/main" val="31638035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44430"/>
          </a:xfrm>
          <a:prstGeom prst="rect">
            <a:avLst/>
          </a:prstGeom>
        </p:spPr>
      </p:pic>
      <p:cxnSp>
        <p:nvCxnSpPr>
          <p:cNvPr id="15" name="Straight Connector 14"/>
          <p:cNvCxnSpPr/>
          <p:nvPr/>
        </p:nvCxnSpPr>
        <p:spPr>
          <a:xfrm flipV="1">
            <a:off x="178802" y="760653"/>
            <a:ext cx="11592784" cy="29275"/>
          </a:xfrm>
          <a:prstGeom prst="line">
            <a:avLst/>
          </a:prstGeom>
        </p:spPr>
        <p:style>
          <a:lnRef idx="1">
            <a:schemeClr val="dk1"/>
          </a:lnRef>
          <a:fillRef idx="0">
            <a:schemeClr val="dk1"/>
          </a:fillRef>
          <a:effectRef idx="0">
            <a:schemeClr val="dk1"/>
          </a:effectRef>
          <a:fontRef idx="minor">
            <a:schemeClr val="tx1"/>
          </a:fontRef>
        </p:style>
      </p:cxnSp>
      <p:sp>
        <p:nvSpPr>
          <p:cNvPr id="9" name="TextBox 8"/>
          <p:cNvSpPr txBox="1"/>
          <p:nvPr/>
        </p:nvSpPr>
        <p:spPr>
          <a:xfrm>
            <a:off x="178801" y="328263"/>
            <a:ext cx="7391579" cy="1015663"/>
          </a:xfrm>
          <a:prstGeom prst="rect">
            <a:avLst/>
          </a:prstGeom>
          <a:noFill/>
        </p:spPr>
        <p:txBody>
          <a:bodyPr wrap="square" rtlCol="0">
            <a:spAutoFit/>
          </a:bodyPr>
          <a:lstStyle/>
          <a:p>
            <a:r>
              <a:rPr lang="en-US" sz="2400" b="1" dirty="0">
                <a:ln w="0"/>
                <a:solidFill>
                  <a:schemeClr val="accent5">
                    <a:lumMod val="50000"/>
                  </a:schemeClr>
                </a:solidFill>
                <a:effectLst>
                  <a:reflection blurRad="6350" stA="53000" endA="300" endPos="35500" dir="5400000" sy="-90000" algn="bl" rotWithShape="0"/>
                </a:effectLst>
                <a:latin typeface="Bookman Old Style" pitchFamily="18" charset="0"/>
                <a:ea typeface="Batang" pitchFamily="18" charset="-127"/>
              </a:rPr>
              <a:t>Scientific Thinking </a:t>
            </a:r>
          </a:p>
          <a:p>
            <a:endParaRPr lang="en-US" sz="1000" b="1" dirty="0">
              <a:ln w="0"/>
              <a:solidFill>
                <a:schemeClr val="accent5">
                  <a:lumMod val="50000"/>
                </a:schemeClr>
              </a:solidFill>
              <a:effectLst>
                <a:reflection blurRad="6350" stA="53000" endA="300" endPos="35500" dir="5400000" sy="-90000" algn="bl" rotWithShape="0"/>
              </a:effectLst>
              <a:latin typeface="Bookman Old Style" pitchFamily="18" charset="0"/>
              <a:ea typeface="Batang" pitchFamily="18" charset="-127"/>
            </a:endParaRPr>
          </a:p>
          <a:p>
            <a:r>
              <a:rPr lang="en-US" sz="2400" dirty="0"/>
              <a:t>Steps of Scientific Method</a:t>
            </a:r>
            <a:endParaRPr lang="en-US" sz="2400" b="1" u="sng" dirty="0"/>
          </a:p>
        </p:txBody>
      </p:sp>
      <p:sp>
        <p:nvSpPr>
          <p:cNvPr id="7" name="Rounded Rectangle 6"/>
          <p:cNvSpPr/>
          <p:nvPr/>
        </p:nvSpPr>
        <p:spPr>
          <a:xfrm>
            <a:off x="1011040" y="2423148"/>
            <a:ext cx="9534135" cy="855617"/>
          </a:xfrm>
          <a:prstGeom prst="round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defTabSz="1155700">
              <a:lnSpc>
                <a:spcPct val="90000"/>
              </a:lnSpc>
              <a:spcBef>
                <a:spcPct val="0"/>
              </a:spcBef>
              <a:spcAft>
                <a:spcPct val="35000"/>
              </a:spcAft>
            </a:pPr>
            <a:r>
              <a:rPr lang="en-US" sz="2800" b="1" spc="50" dirty="0">
                <a:ln w="12700" cmpd="sng">
                  <a:prstDash val="solid"/>
                </a:ln>
                <a:solidFill>
                  <a:schemeClr val="tx1"/>
                </a:solidFill>
                <a:effectLst>
                  <a:glow rad="101600">
                    <a:schemeClr val="accent2">
                      <a:lumMod val="40000"/>
                      <a:lumOff val="60000"/>
                      <a:alpha val="40000"/>
                    </a:schemeClr>
                  </a:glow>
                </a:effectLst>
              </a:rPr>
              <a:t>We would need to do a statistical analysis to demonstrate the effect.</a:t>
            </a:r>
          </a:p>
        </p:txBody>
      </p:sp>
      <p:sp>
        <p:nvSpPr>
          <p:cNvPr id="8" name="Rectangle 7"/>
          <p:cNvSpPr/>
          <p:nvPr/>
        </p:nvSpPr>
        <p:spPr>
          <a:xfrm>
            <a:off x="935665" y="1508330"/>
            <a:ext cx="9984883" cy="769441"/>
          </a:xfrm>
          <a:prstGeom prst="rect">
            <a:avLst/>
          </a:prstGeom>
          <a:noFill/>
        </p:spPr>
        <p:txBody>
          <a:bodyPr wrap="square" lIns="91440" tIns="45720" rIns="91440" bIns="45720">
            <a:spAutoFit/>
          </a:bodyPr>
          <a:lstStyle/>
          <a:p>
            <a:r>
              <a:rPr lang="en-US" sz="4200" b="1" spc="50" dirty="0">
                <a:ln w="12700" cmpd="sng">
                  <a:prstDash val="solid"/>
                </a:ln>
                <a:effectLst>
                  <a:glow rad="101600">
                    <a:schemeClr val="accent2">
                      <a:lumMod val="40000"/>
                      <a:lumOff val="60000"/>
                      <a:alpha val="40000"/>
                    </a:schemeClr>
                  </a:glow>
                </a:effectLst>
              </a:rPr>
              <a:t>5-  </a:t>
            </a:r>
            <a:r>
              <a:rPr lang="en-US" sz="4400" b="1" dirty="0"/>
              <a:t>Analyze the Results of the Experiment</a:t>
            </a:r>
            <a:endParaRPr lang="en-US" sz="4200" b="1" spc="50" dirty="0">
              <a:ln w="12700" cmpd="sng">
                <a:prstDash val="solid"/>
              </a:ln>
              <a:effectLst>
                <a:glow rad="101600">
                  <a:schemeClr val="accent2">
                    <a:lumMod val="40000"/>
                    <a:lumOff val="60000"/>
                    <a:alpha val="40000"/>
                  </a:schemeClr>
                </a:glow>
              </a:effectLst>
            </a:endParaRPr>
          </a:p>
        </p:txBody>
      </p:sp>
      <p:sp>
        <p:nvSpPr>
          <p:cNvPr id="10" name="Rectangle 9"/>
          <p:cNvSpPr/>
          <p:nvPr/>
        </p:nvSpPr>
        <p:spPr>
          <a:xfrm>
            <a:off x="935666" y="3805898"/>
            <a:ext cx="6699574" cy="738664"/>
          </a:xfrm>
          <a:prstGeom prst="rect">
            <a:avLst/>
          </a:prstGeom>
          <a:noFill/>
        </p:spPr>
        <p:txBody>
          <a:bodyPr wrap="square" lIns="91440" tIns="45720" rIns="91440" bIns="45720">
            <a:spAutoFit/>
          </a:bodyPr>
          <a:lstStyle/>
          <a:p>
            <a:r>
              <a:rPr lang="en-US" sz="4200" b="1" spc="50" dirty="0">
                <a:ln w="12700" cmpd="sng">
                  <a:prstDash val="solid"/>
                </a:ln>
                <a:effectLst>
                  <a:glow rad="101600">
                    <a:schemeClr val="accent2">
                      <a:lumMod val="40000"/>
                      <a:lumOff val="60000"/>
                      <a:alpha val="40000"/>
                    </a:schemeClr>
                  </a:glow>
                </a:effectLst>
              </a:rPr>
              <a:t>6- Draw a Conclusion</a:t>
            </a:r>
          </a:p>
        </p:txBody>
      </p:sp>
      <p:sp>
        <p:nvSpPr>
          <p:cNvPr id="11" name="Rounded Rectangle 10"/>
          <p:cNvSpPr/>
          <p:nvPr/>
        </p:nvSpPr>
        <p:spPr>
          <a:xfrm>
            <a:off x="1028760" y="4679205"/>
            <a:ext cx="9534135" cy="1400515"/>
          </a:xfrm>
          <a:prstGeom prst="round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defTabSz="1155700">
              <a:lnSpc>
                <a:spcPct val="90000"/>
              </a:lnSpc>
              <a:spcBef>
                <a:spcPct val="0"/>
              </a:spcBef>
              <a:spcAft>
                <a:spcPct val="35000"/>
              </a:spcAft>
            </a:pPr>
            <a:r>
              <a:rPr lang="en-US" sz="2800" b="1" spc="50" dirty="0">
                <a:ln w="12700" cmpd="sng">
                  <a:prstDash val="solid"/>
                </a:ln>
                <a:solidFill>
                  <a:schemeClr val="tx1"/>
                </a:solidFill>
                <a:effectLst>
                  <a:glow rad="101600">
                    <a:schemeClr val="accent2">
                      <a:lumMod val="40000"/>
                      <a:lumOff val="60000"/>
                      <a:alpha val="40000"/>
                    </a:schemeClr>
                  </a:glow>
                </a:effectLst>
              </a:rPr>
              <a:t>From our analysis of the experiment, we have two possible outcomes: the results agree with the prediction or they disagree with the prediction. </a:t>
            </a:r>
          </a:p>
        </p:txBody>
      </p:sp>
    </p:spTree>
    <p:extLst>
      <p:ext uri="{BB962C8B-B14F-4D97-AF65-F5344CB8AC3E}">
        <p14:creationId xmlns:p14="http://schemas.microsoft.com/office/powerpoint/2010/main" val="31638035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44430"/>
          </a:xfrm>
          <a:prstGeom prst="rect">
            <a:avLst/>
          </a:prstGeom>
        </p:spPr>
      </p:pic>
      <p:cxnSp>
        <p:nvCxnSpPr>
          <p:cNvPr id="15" name="Straight Connector 14"/>
          <p:cNvCxnSpPr/>
          <p:nvPr/>
        </p:nvCxnSpPr>
        <p:spPr>
          <a:xfrm flipV="1">
            <a:off x="178802" y="760653"/>
            <a:ext cx="11592784" cy="29275"/>
          </a:xfrm>
          <a:prstGeom prst="line">
            <a:avLst/>
          </a:prstGeom>
        </p:spPr>
        <p:style>
          <a:lnRef idx="1">
            <a:schemeClr val="dk1"/>
          </a:lnRef>
          <a:fillRef idx="0">
            <a:schemeClr val="dk1"/>
          </a:fillRef>
          <a:effectRef idx="0">
            <a:schemeClr val="dk1"/>
          </a:effectRef>
          <a:fontRef idx="minor">
            <a:schemeClr val="tx1"/>
          </a:fontRef>
        </p:style>
      </p:cxnSp>
      <p:sp>
        <p:nvSpPr>
          <p:cNvPr id="9" name="TextBox 8"/>
          <p:cNvSpPr txBox="1"/>
          <p:nvPr/>
        </p:nvSpPr>
        <p:spPr>
          <a:xfrm>
            <a:off x="178801" y="328263"/>
            <a:ext cx="7391579" cy="1015663"/>
          </a:xfrm>
          <a:prstGeom prst="rect">
            <a:avLst/>
          </a:prstGeom>
          <a:noFill/>
        </p:spPr>
        <p:txBody>
          <a:bodyPr wrap="square" rtlCol="0">
            <a:spAutoFit/>
          </a:bodyPr>
          <a:lstStyle/>
          <a:p>
            <a:r>
              <a:rPr lang="en-US" sz="2400" b="1" dirty="0">
                <a:ln w="0"/>
                <a:solidFill>
                  <a:schemeClr val="accent5">
                    <a:lumMod val="50000"/>
                  </a:schemeClr>
                </a:solidFill>
                <a:effectLst>
                  <a:reflection blurRad="6350" stA="53000" endA="300" endPos="35500" dir="5400000" sy="-90000" algn="bl" rotWithShape="0"/>
                </a:effectLst>
                <a:latin typeface="Bookman Old Style" pitchFamily="18" charset="0"/>
                <a:ea typeface="Batang" pitchFamily="18" charset="-127"/>
              </a:rPr>
              <a:t>Scientific Thinking </a:t>
            </a:r>
          </a:p>
          <a:p>
            <a:endParaRPr lang="en-US" sz="1000" b="1" dirty="0">
              <a:ln w="0"/>
              <a:solidFill>
                <a:schemeClr val="accent5">
                  <a:lumMod val="50000"/>
                </a:schemeClr>
              </a:solidFill>
              <a:effectLst>
                <a:reflection blurRad="6350" stA="53000" endA="300" endPos="35500" dir="5400000" sy="-90000" algn="bl" rotWithShape="0"/>
              </a:effectLst>
              <a:latin typeface="Bookman Old Style" pitchFamily="18" charset="0"/>
              <a:ea typeface="Batang" pitchFamily="18" charset="-127"/>
            </a:endParaRPr>
          </a:p>
          <a:p>
            <a:r>
              <a:rPr lang="en-US" sz="2400" dirty="0"/>
              <a:t>Steps of Scientific Method</a:t>
            </a:r>
            <a:endParaRPr lang="en-US" sz="2400" b="1" u="sng" dirty="0"/>
          </a:p>
        </p:txBody>
      </p:sp>
      <p:sp>
        <p:nvSpPr>
          <p:cNvPr id="7" name="Rounded Rectangle 6"/>
          <p:cNvSpPr/>
          <p:nvPr/>
        </p:nvSpPr>
        <p:spPr>
          <a:xfrm>
            <a:off x="1011040" y="2649582"/>
            <a:ext cx="9534135" cy="1543594"/>
          </a:xfrm>
          <a:prstGeom prst="round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defTabSz="1155700">
              <a:lnSpc>
                <a:spcPct val="90000"/>
              </a:lnSpc>
              <a:spcBef>
                <a:spcPct val="0"/>
              </a:spcBef>
              <a:spcAft>
                <a:spcPct val="35000"/>
              </a:spcAft>
            </a:pPr>
            <a:r>
              <a:rPr lang="en-US" sz="2800" b="1" spc="50" dirty="0">
                <a:ln w="12700" cmpd="sng">
                  <a:prstDash val="solid"/>
                </a:ln>
                <a:solidFill>
                  <a:schemeClr val="tx1"/>
                </a:solidFill>
                <a:effectLst>
                  <a:glow rad="101600">
                    <a:schemeClr val="accent2">
                      <a:lumMod val="40000"/>
                      <a:lumOff val="60000"/>
                      <a:alpha val="40000"/>
                    </a:schemeClr>
                  </a:glow>
                </a:effectLst>
              </a:rPr>
              <a:t>Scientists publish their findings in scientific journals and books, in talks at national and international meetings and in seminars at colleges and universities. </a:t>
            </a:r>
          </a:p>
        </p:txBody>
      </p:sp>
      <p:sp>
        <p:nvSpPr>
          <p:cNvPr id="8" name="Rectangle 7"/>
          <p:cNvSpPr/>
          <p:nvPr/>
        </p:nvSpPr>
        <p:spPr>
          <a:xfrm>
            <a:off x="935666" y="1572125"/>
            <a:ext cx="6089974" cy="738664"/>
          </a:xfrm>
          <a:prstGeom prst="rect">
            <a:avLst/>
          </a:prstGeom>
          <a:noFill/>
        </p:spPr>
        <p:txBody>
          <a:bodyPr wrap="square" lIns="91440" tIns="45720" rIns="91440" bIns="45720">
            <a:spAutoFit/>
          </a:bodyPr>
          <a:lstStyle/>
          <a:p>
            <a:r>
              <a:rPr lang="en-US" sz="4200" b="1" spc="50" dirty="0">
                <a:ln w="12700" cmpd="sng">
                  <a:prstDash val="solid"/>
                </a:ln>
                <a:effectLst>
                  <a:glow rad="101600">
                    <a:schemeClr val="accent2">
                      <a:lumMod val="40000"/>
                      <a:lumOff val="60000"/>
                      <a:alpha val="40000"/>
                    </a:schemeClr>
                  </a:glow>
                </a:effectLst>
              </a:rPr>
              <a:t>7- Report your results</a:t>
            </a:r>
          </a:p>
        </p:txBody>
      </p:sp>
    </p:spTree>
    <p:extLst>
      <p:ext uri="{BB962C8B-B14F-4D97-AF65-F5344CB8AC3E}">
        <p14:creationId xmlns:p14="http://schemas.microsoft.com/office/powerpoint/2010/main" val="31638035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749186" y="500063"/>
            <a:ext cx="7851889" cy="461665"/>
          </a:xfrm>
          <a:prstGeom prst="rect">
            <a:avLst/>
          </a:prstGeom>
        </p:spPr>
        <p:txBody>
          <a:bodyPr wrap="square">
            <a:spAutoFit/>
          </a:bodyPr>
          <a:lstStyle/>
          <a:p>
            <a:endParaRPr lang="en-US" sz="2400" b="1" dirty="0"/>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511" y="-10510"/>
            <a:ext cx="12196053" cy="6858000"/>
          </a:xfrm>
          <a:prstGeom prst="rect">
            <a:avLst/>
          </a:prstGeom>
        </p:spPr>
      </p:pic>
    </p:spTree>
    <p:extLst>
      <p:ext uri="{BB962C8B-B14F-4D97-AF65-F5344CB8AC3E}">
        <p14:creationId xmlns:p14="http://schemas.microsoft.com/office/powerpoint/2010/main" val="16276824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575</TotalTime>
  <Words>465</Words>
  <Application>Microsoft Office PowerPoint</Application>
  <PresentationFormat>شاشة عريضة</PresentationFormat>
  <Paragraphs>52</Paragraphs>
  <Slides>10</Slides>
  <Notes>0</Notes>
  <HiddenSlides>0</HiddenSlides>
  <MMClips>0</MMClips>
  <ScaleCrop>false</ScaleCrop>
  <HeadingPairs>
    <vt:vector size="4" baseType="variant">
      <vt:variant>
        <vt:lpstr>نسق</vt:lpstr>
      </vt:variant>
      <vt:variant>
        <vt:i4>1</vt:i4>
      </vt:variant>
      <vt:variant>
        <vt:lpstr>عناوين الشرائح</vt:lpstr>
      </vt:variant>
      <vt:variant>
        <vt:i4>10</vt:i4>
      </vt:variant>
    </vt:vector>
  </HeadingPairs>
  <TitlesOfParts>
    <vt:vector size="11" baseType="lpstr">
      <vt:lpstr>Office Theme</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moustafamahmoud.eg@hotmail.com</dc:creator>
  <cp:lastModifiedBy>مستخدم ضيف</cp:lastModifiedBy>
  <cp:revision>59</cp:revision>
  <dcterms:created xsi:type="dcterms:W3CDTF">2019-11-03T13:54:28Z</dcterms:created>
  <dcterms:modified xsi:type="dcterms:W3CDTF">2025-11-07T20:47:12Z</dcterms:modified>
</cp:coreProperties>
</file>
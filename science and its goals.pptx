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345" r:id="rId3"/>
    <p:sldId id="347" r:id="rId4"/>
    <p:sldId id="346" r:id="rId5"/>
    <p:sldId id="344" r:id="rId6"/>
    <p:sldId id="279" r:id="rId7"/>
    <p:sldId id="280" r:id="rId8"/>
    <p:sldId id="281" r:id="rId9"/>
    <p:sldId id="282" r:id="rId10"/>
    <p:sldId id="34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46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E1961-E89F-4B30-84BA-047915200FF0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8DE9C-2740-443A-90C2-70A36DAB3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2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9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91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91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21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1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31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13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9790B2-1DA8-4467-B206-48B4C824AFA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8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3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8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6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6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3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82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7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A2C1-30FE-4A5B-9F15-98834576BABB}" type="datetimeFigureOut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5D81-1560-4BFE-91A5-0D5BAFD5D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8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605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61028" y="3909848"/>
            <a:ext cx="7877909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Title: </a:t>
            </a:r>
            <a:r>
              <a:rPr lang="en-US" sz="4000" b="1" dirty="0">
                <a:solidFill>
                  <a:srgbClr val="FF0000"/>
                </a:solidFill>
              </a:rPr>
              <a:t>Science and scientific Thinking</a:t>
            </a:r>
          </a:p>
          <a:p>
            <a:endParaRPr lang="en-US" sz="900" b="1" dirty="0"/>
          </a:p>
          <a:p>
            <a:pPr algn="ctr"/>
            <a:r>
              <a:rPr lang="en-US" sz="3600" b="1" dirty="0"/>
              <a:t>Present By: </a:t>
            </a:r>
          </a:p>
          <a:p>
            <a:pPr algn="ctr"/>
            <a:r>
              <a:rPr lang="en-US" sz="3600" b="1" dirty="0"/>
              <a:t>DR. Mohamed HAFEZ</a:t>
            </a:r>
          </a:p>
        </p:txBody>
      </p:sp>
    </p:spTree>
    <p:extLst>
      <p:ext uri="{BB962C8B-B14F-4D97-AF65-F5344CB8AC3E}">
        <p14:creationId xmlns:p14="http://schemas.microsoft.com/office/powerpoint/2010/main" val="410493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0" y="549254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32A3F4-1D0D-4401-9A81-B4070B277E6E}"/>
              </a:ext>
            </a:extLst>
          </p:cNvPr>
          <p:cNvSpPr txBox="1">
            <a:spLocks/>
          </p:cNvSpPr>
          <p:nvPr/>
        </p:nvSpPr>
        <p:spPr>
          <a:xfrm>
            <a:off x="246185" y="1934308"/>
            <a:ext cx="10222523" cy="4618892"/>
          </a:xfrm>
          <a:prstGeom prst="rect">
            <a:avLst/>
          </a:prstGeom>
          <a:solidFill>
            <a:srgbClr val="A5CCEF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bliqueBottomRight"/>
            <a:lightRig rig="threePt" dir="t"/>
          </a:scene3d>
          <a:sp3d extrusionH="76200" contourW="12700">
            <a:bevelT w="165100" prst="coolSlant"/>
            <a:bevelB w="165100" prst="coolSlant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The meaning of science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The Goals of Science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The characteristics of scientific knowledge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misinterpretations of scientific process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789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1" y="783716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32A3F4-1D0D-4401-9A81-B4070B277E6E}"/>
              </a:ext>
            </a:extLst>
          </p:cNvPr>
          <p:cNvSpPr txBox="1">
            <a:spLocks/>
          </p:cNvSpPr>
          <p:nvPr/>
        </p:nvSpPr>
        <p:spPr>
          <a:xfrm>
            <a:off x="3321708" y="2046694"/>
            <a:ext cx="4974153" cy="1039033"/>
          </a:xfrm>
          <a:prstGeom prst="rect">
            <a:avLst/>
          </a:prstGeom>
          <a:solidFill>
            <a:srgbClr val="A5CCEF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bliqueBottomRight"/>
            <a:lightRig rig="threePt" dir="t"/>
          </a:scene3d>
          <a:sp3d extrusionH="76200" contourW="12700">
            <a:bevelT w="165100" prst="coolSlant"/>
            <a:bevelB w="165100" prst="coolSlant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FF0000"/>
                </a:solidFill>
              </a:rPr>
              <a:t>What is science?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4E21F2-A4A3-47BE-96C1-B1A08971CAE8}"/>
              </a:ext>
            </a:extLst>
          </p:cNvPr>
          <p:cNvSpPr txBox="1">
            <a:spLocks/>
          </p:cNvSpPr>
          <p:nvPr/>
        </p:nvSpPr>
        <p:spPr>
          <a:xfrm>
            <a:off x="174706" y="3280442"/>
            <a:ext cx="11756658" cy="2948079"/>
          </a:xfrm>
          <a:prstGeom prst="rect">
            <a:avLst/>
          </a:prstGeom>
          <a:solidFill>
            <a:srgbClr val="A5CCEF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bliqueBottomRight"/>
            <a:lightRig rig="threePt" dir="t"/>
          </a:scene3d>
          <a:sp3d extrusionH="76200" contourW="12700">
            <a:bevelT w="165100" prst="coolSlant"/>
            <a:bevelB w="165100" prst="coolSlant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600" dirty="0"/>
              <a:t>Science is not merely a collection of facts , concepts , and useful ideas about nature … But Science is a method of investigating nature.. </a:t>
            </a:r>
          </a:p>
        </p:txBody>
      </p:sp>
    </p:spTree>
    <p:extLst>
      <p:ext uri="{BB962C8B-B14F-4D97-AF65-F5344CB8AC3E}">
        <p14:creationId xmlns:p14="http://schemas.microsoft.com/office/powerpoint/2010/main" val="168596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2" y="17746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297746" y="1780918"/>
            <a:ext cx="7439326" cy="1083073"/>
          </a:xfrm>
          <a:prstGeom prst="rect">
            <a:avLst/>
          </a:prstGeom>
          <a:solidFill>
            <a:srgbClr val="A5CCEF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bliqueBottomRight"/>
            <a:lightRig rig="threePt" dir="t"/>
          </a:scene3d>
          <a:sp3d extrusionH="76200" contourW="12700">
            <a:bevelT w="165100" prst="coolSlant"/>
            <a:bevelB w="165100" prst="coolSlant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0000"/>
                </a:solidFill>
              </a:rPr>
              <a:t>What is Reliable knowledge?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F41CF7-1866-49F4-813E-C709E9B08989}"/>
              </a:ext>
            </a:extLst>
          </p:cNvPr>
          <p:cNvSpPr txBox="1">
            <a:spLocks/>
          </p:cNvSpPr>
          <p:nvPr/>
        </p:nvSpPr>
        <p:spPr>
          <a:xfrm>
            <a:off x="475866" y="2930769"/>
            <a:ext cx="11083087" cy="2754923"/>
          </a:xfrm>
          <a:prstGeom prst="rect">
            <a:avLst/>
          </a:prstGeom>
          <a:solidFill>
            <a:srgbClr val="A5CCEF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bliqueBottomRight"/>
            <a:lightRig rig="threePt" dir="t"/>
          </a:scene3d>
          <a:sp3d extrusionH="76200" contourW="12700">
            <a:bevelT w="165100" prst="coolSlant"/>
            <a:bevelB w="165100" prst="coolSlant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Reliable knowledge is Knowledge that has a high probability of being true</a:t>
            </a:r>
          </a:p>
        </p:txBody>
      </p:sp>
    </p:spTree>
    <p:extLst>
      <p:ext uri="{BB962C8B-B14F-4D97-AF65-F5344CB8AC3E}">
        <p14:creationId xmlns:p14="http://schemas.microsoft.com/office/powerpoint/2010/main" val="91828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2" y="17746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9264" y="3429000"/>
            <a:ext cx="3417571" cy="25811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Describe</a:t>
            </a:r>
          </a:p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Explain</a:t>
            </a:r>
          </a:p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Predict</a:t>
            </a:r>
          </a:p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451" y="1365640"/>
            <a:ext cx="8092928" cy="10926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5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The Goals of Science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670" y="2595074"/>
            <a:ext cx="3964551" cy="396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7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2" y="17746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60" y="3058509"/>
            <a:ext cx="9650742" cy="16189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To understand the behaviors and events we study, we must describe or define them.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8671" y="1827305"/>
            <a:ext cx="317586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1- Describe 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0255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2" y="17746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987" y="3310122"/>
            <a:ext cx="9970544" cy="281238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To understand the behaviors and events we study, we must also identify the conditions within which they operate. In other words, we identify what causes a behavior or event to occur.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1074" y="1853969"/>
            <a:ext cx="281359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2- Explain 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939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2" y="17746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5650" y="3058509"/>
            <a:ext cx="9744748" cy="325691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Once we can describe and explain a particular behavior or event, we can use that knowledge to predict when it will occur in the future. </a:t>
            </a:r>
          </a:p>
          <a:p>
            <a:pPr lvl="0" defTabSz="11557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In other words, we can anticipate when the behavior or event will occur in the future.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5650" y="1827305"/>
            <a:ext cx="27665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3- Predict 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62273DD-589D-4795-A4EB-230CBC12D5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08895" y="5425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5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777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20171216_BLP51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flipH="1">
            <a:off x="0" y="189780"/>
            <a:ext cx="1845447" cy="10390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502" y="177461"/>
            <a:ext cx="1251863" cy="15366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1074" y="347982"/>
            <a:ext cx="6023351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2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itchFamily="18" charset="0"/>
                <a:ea typeface="Batang" pitchFamily="18" charset="-127"/>
              </a:rPr>
              <a:t>Scientific Thinking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60" y="3058509"/>
            <a:ext cx="9850255" cy="21582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1155700">
              <a:lnSpc>
                <a:spcPct val="150000"/>
              </a:lnSpc>
              <a:spcBef>
                <a:spcPts val="1200"/>
              </a:spcBef>
              <a:spcAft>
                <a:spcPct val="35000"/>
              </a:spcAft>
            </a:pPr>
            <a:r>
              <a:rPr lang="en-US" sz="2600" b="1" spc="50" dirty="0">
                <a:ln w="12700" cmpd="sng">
                  <a:prstDash val="solid"/>
                </a:ln>
                <a:solidFill>
                  <a:schemeClr val="tx1"/>
                </a:solidFill>
                <a:effectLst>
                  <a:glow rad="101600">
                    <a:schemeClr val="accent2">
                      <a:lumMod val="40000"/>
                      <a:lumOff val="60000"/>
                      <a:alpha val="40000"/>
                    </a:schemeClr>
                  </a:glow>
                </a:effectLst>
              </a:rPr>
              <a:t>The central, and often most essential goal for a scientist is control. Control means that we can make a behavior occur and not occur.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127214" y="1979705"/>
            <a:ext cx="285167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4- Control 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8540338-E826-4DBE-913B-524FA33763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83896" y="5425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2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4836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49186" y="500063"/>
            <a:ext cx="78518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11" y="-10510"/>
            <a:ext cx="12196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240</Words>
  <Application>Microsoft Office PowerPoint</Application>
  <PresentationFormat>شاشة عريضة</PresentationFormat>
  <Paragraphs>45</Paragraphs>
  <Slides>10</Slides>
  <Notes>8</Notes>
  <HiddenSlides>0</HiddenSlides>
  <MMClips>2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moustafamahmoud.eg@hotmail.com</dc:creator>
  <cp:lastModifiedBy>Mohamed Hafez</cp:lastModifiedBy>
  <cp:revision>45</cp:revision>
  <dcterms:created xsi:type="dcterms:W3CDTF">2019-11-03T13:54:28Z</dcterms:created>
  <dcterms:modified xsi:type="dcterms:W3CDTF">2025-10-27T11:10:47Z</dcterms:modified>
</cp:coreProperties>
</file>
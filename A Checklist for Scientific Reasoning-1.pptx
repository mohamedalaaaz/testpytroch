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8" r:id="rId2"/>
    <p:sldId id="345" r:id="rId3"/>
    <p:sldId id="350" r:id="rId4"/>
    <p:sldId id="34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26" autoAdjust="0"/>
    <p:restoredTop sz="94660"/>
  </p:normalViewPr>
  <p:slideViewPr>
    <p:cSldViewPr snapToGrid="0">
      <p:cViewPr varScale="1">
        <p:scale>
          <a:sx n="78" d="100"/>
          <a:sy n="78" d="100"/>
        </p:scale>
        <p:origin x="462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2E1961-E89F-4B30-84BA-047915200FF0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98DE9C-2740-443A-90C2-70A36DAB3F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726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9790B2-1DA8-4467-B206-48B4C824AFAA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771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9790B2-1DA8-4467-B206-48B4C824AFAA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0913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AA2C1-30FE-4A5B-9F15-98834576BABB}" type="datetimeFigureOut">
              <a:rPr lang="en-US" smtClean="0"/>
              <a:t>10/27/2025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05D81-1560-4BFE-91A5-0D5BAFD5DEA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994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AA2C1-30FE-4A5B-9F15-98834576BABB}" type="datetimeFigureOut">
              <a:rPr lang="en-US" smtClean="0"/>
              <a:t>10/27/2025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05D81-1560-4BFE-91A5-0D5BAFD5DEA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430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AA2C1-30FE-4A5B-9F15-98834576BABB}" type="datetimeFigureOut">
              <a:rPr lang="en-US" smtClean="0"/>
              <a:t>10/27/2025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05D81-1560-4BFE-91A5-0D5BAFD5DEA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8387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AA2C1-30FE-4A5B-9F15-98834576BABB}" type="datetimeFigureOut">
              <a:rPr lang="en-US" smtClean="0"/>
              <a:t>10/27/2025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05D81-1560-4BFE-91A5-0D5BAFD5DEA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8161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AA2C1-30FE-4A5B-9F15-98834576BABB}" type="datetimeFigureOut">
              <a:rPr lang="en-US" smtClean="0"/>
              <a:t>10/27/2025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05D81-1560-4BFE-91A5-0D5BAFD5DEA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2863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AA2C1-30FE-4A5B-9F15-98834576BABB}" type="datetimeFigureOut">
              <a:rPr lang="en-US" smtClean="0"/>
              <a:t>10/27/2025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05D81-1560-4BFE-91A5-0D5BAFD5DEA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7954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AA2C1-30FE-4A5B-9F15-98834576BABB}" type="datetimeFigureOut">
              <a:rPr lang="en-US" smtClean="0"/>
              <a:t>10/27/2025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05D81-1560-4BFE-91A5-0D5BAFD5DEA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527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AA2C1-30FE-4A5B-9F15-98834576BABB}" type="datetimeFigureOut">
              <a:rPr lang="en-US" smtClean="0"/>
              <a:t>10/27/2025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05D81-1560-4BFE-91A5-0D5BAFD5DEA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8439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AA2C1-30FE-4A5B-9F15-98834576BABB}" type="datetimeFigureOut">
              <a:rPr lang="en-US" smtClean="0"/>
              <a:t>10/27/2025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05D81-1560-4BFE-91A5-0D5BAFD5DEA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6821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AA2C1-30FE-4A5B-9F15-98834576BABB}" type="datetimeFigureOut">
              <a:rPr lang="en-US" smtClean="0"/>
              <a:t>10/27/2025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05D81-1560-4BFE-91A5-0D5BAFD5DEA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0077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AA2C1-30FE-4A5B-9F15-98834576BABB}" type="datetimeFigureOut">
              <a:rPr lang="en-US" smtClean="0"/>
              <a:t>10/27/2025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05D81-1560-4BFE-91A5-0D5BAFD5DEA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55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6AA2C1-30FE-4A5B-9F15-98834576BABB}" type="datetimeFigureOut">
              <a:rPr lang="en-US" smtClean="0"/>
              <a:t>10/27/2025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005D81-1560-4BFE-91A5-0D5BAFD5DEA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481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6053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27651" y="3552039"/>
            <a:ext cx="9992140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spcBef>
                <a:spcPts val="600"/>
              </a:spcBef>
              <a:spcAft>
                <a:spcPts val="600"/>
              </a:spcAft>
            </a:pPr>
            <a:r>
              <a:rPr lang="x-none" sz="4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 Checklist for Scientific Reasoning</a:t>
            </a:r>
            <a:endParaRPr lang="en-US" sz="36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sz="900" b="1" dirty="0"/>
          </a:p>
          <a:p>
            <a:pPr algn="ctr"/>
            <a:r>
              <a:rPr lang="en-US" sz="3600" b="1" dirty="0"/>
              <a:t>Present By: </a:t>
            </a:r>
          </a:p>
          <a:p>
            <a:pPr algn="ctr"/>
            <a:endParaRPr lang="en-US" sz="1200" b="1" dirty="0"/>
          </a:p>
          <a:p>
            <a:pPr algn="ctr"/>
            <a:r>
              <a:rPr lang="en-US" sz="3600" b="1" dirty="0">
                <a:solidFill>
                  <a:srgbClr val="0070C0"/>
                </a:solidFill>
              </a:rPr>
              <a:t>DR </a:t>
            </a:r>
          </a:p>
          <a:p>
            <a:pPr algn="ctr"/>
            <a:r>
              <a:rPr lang="en-US" sz="3600" b="1" dirty="0">
                <a:solidFill>
                  <a:srgbClr val="0070C0"/>
                </a:solidFill>
              </a:rPr>
              <a:t>  Mohamed </a:t>
            </a:r>
            <a:r>
              <a:rPr lang="en-US" sz="3600" b="1" dirty="0" err="1">
                <a:solidFill>
                  <a:srgbClr val="0070C0"/>
                </a:solidFill>
              </a:rPr>
              <a:t>hafez</a:t>
            </a:r>
            <a:endParaRPr lang="en-US" sz="3600" b="1">
              <a:solidFill>
                <a:srgbClr val="0070C0"/>
              </a:solidFill>
            </a:endParaRPr>
          </a:p>
          <a:p>
            <a:pPr algn="ctr"/>
            <a:endParaRPr lang="en-US" sz="36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4937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20171216_BLP513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flipH="1">
            <a:off x="0" y="189780"/>
            <a:ext cx="1845447" cy="103903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783" y="189780"/>
            <a:ext cx="1011571" cy="124171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71074" y="347982"/>
            <a:ext cx="6023351" cy="73866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200" b="1" dirty="0">
                <a:ln w="0"/>
                <a:solidFill>
                  <a:schemeClr val="accent5">
                    <a:lumMod val="5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Bookman Old Style" pitchFamily="18" charset="0"/>
                <a:ea typeface="Batang" pitchFamily="18" charset="-127"/>
              </a:rPr>
              <a:t>Scientific Thinking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4925A53-F750-4766-A42B-E4423FEEE4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768" y="3543192"/>
            <a:ext cx="10762463" cy="9232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28528" tIns="76176" rIns="0" bIns="7617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Low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DA16C9-770C-42B6-880A-7224CE86CC47}"/>
              </a:ext>
            </a:extLst>
          </p:cNvPr>
          <p:cNvSpPr txBox="1"/>
          <p:nvPr/>
        </p:nvSpPr>
        <p:spPr>
          <a:xfrm>
            <a:off x="714767" y="1754870"/>
            <a:ext cx="10762463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Bef>
                <a:spcPts val="600"/>
              </a:spcBef>
              <a:spcAft>
                <a:spcPts val="600"/>
              </a:spcAft>
            </a:pPr>
            <a:r>
              <a:rPr lang="x-none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 Checklist for Scientific Reasoning</a:t>
            </a:r>
            <a:endParaRPr lang="en-US" sz="20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360045" algn="just">
              <a:spcBef>
                <a:spcPts val="600"/>
              </a:spcBef>
              <a:spcAft>
                <a:spcPts val="600"/>
              </a:spcAft>
            </a:pPr>
            <a:r>
              <a:rPr lang="en-US" sz="3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US" sz="16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540385" marR="0" indent="-360045" algn="just">
              <a:spcBef>
                <a:spcPts val="600"/>
              </a:spcBef>
              <a:spcAft>
                <a:spcPts val="600"/>
              </a:spcAft>
            </a:pPr>
            <a:r>
              <a:rPr lang="x-none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1) All scientific reasoning has a PURPOSE.</a:t>
            </a:r>
            <a:endParaRPr lang="en-US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540385" marR="0" indent="-360045" algn="just">
              <a:spcBef>
                <a:spcPts val="600"/>
              </a:spcBef>
              <a:spcAft>
                <a:spcPts val="600"/>
              </a:spcAft>
            </a:pPr>
            <a:r>
              <a:rPr lang="x-none" sz="9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US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540385" marR="0" indent="-360045" algn="just">
              <a:spcBef>
                <a:spcPts val="600"/>
              </a:spcBef>
              <a:spcAft>
                <a:spcPts val="600"/>
              </a:spcAft>
            </a:pPr>
            <a:r>
              <a:rPr lang="x-none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2) All scientific reasoning is an attempt to figure something out, to settle some scientific QUESTION, to solve some scientific PROBLEB.</a:t>
            </a:r>
            <a:endParaRPr lang="en-US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540385" marR="0" indent="-360045" algn="just">
              <a:spcBef>
                <a:spcPts val="600"/>
              </a:spcBef>
              <a:spcAft>
                <a:spcPts val="600"/>
              </a:spcAft>
            </a:pPr>
            <a:r>
              <a:rPr lang="x-none" sz="1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US" sz="7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540385" marR="0" indent="-360045" algn="just">
              <a:spcBef>
                <a:spcPts val="600"/>
              </a:spcBef>
              <a:spcAft>
                <a:spcPts val="600"/>
              </a:spcAft>
            </a:pPr>
            <a:r>
              <a:rPr lang="x-none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3) All scientific reasoning is based on ASSUMPTIONS.</a:t>
            </a:r>
            <a:endParaRPr lang="en-US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540385" marR="0" indent="-360045" algn="just">
              <a:spcBef>
                <a:spcPts val="600"/>
              </a:spcBef>
              <a:spcAft>
                <a:spcPts val="600"/>
              </a:spcAft>
            </a:pPr>
            <a:r>
              <a:rPr lang="x-none" sz="105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US" sz="1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540385" marR="0" indent="-360045" algn="just">
              <a:spcBef>
                <a:spcPts val="600"/>
              </a:spcBef>
              <a:spcAft>
                <a:spcPts val="600"/>
              </a:spcAft>
            </a:pPr>
            <a:r>
              <a:rPr lang="x-none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4) All scientific reasoning is done from some POINT OF VIEW</a:t>
            </a:r>
            <a:r>
              <a:rPr lang="x-none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897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20171216_BLP513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flipH="1">
            <a:off x="0" y="189780"/>
            <a:ext cx="1845447" cy="103903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9501" y="166841"/>
            <a:ext cx="1251863" cy="153667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71074" y="347982"/>
            <a:ext cx="6023351" cy="73866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200" b="1" dirty="0">
                <a:ln w="0"/>
                <a:solidFill>
                  <a:schemeClr val="accent5">
                    <a:lumMod val="5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Bookman Old Style" pitchFamily="18" charset="0"/>
                <a:ea typeface="Batang" pitchFamily="18" charset="-127"/>
              </a:rPr>
              <a:t>Scientific Thinking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55A9F7-7823-488C-B11F-A4235335DDD7}"/>
              </a:ext>
            </a:extLst>
          </p:cNvPr>
          <p:cNvSpPr txBox="1"/>
          <p:nvPr/>
        </p:nvSpPr>
        <p:spPr>
          <a:xfrm>
            <a:off x="675861" y="2127590"/>
            <a:ext cx="10416208" cy="4178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40385" marR="0" indent="-360045" algn="just">
              <a:spcBef>
                <a:spcPts val="600"/>
              </a:spcBef>
              <a:spcAft>
                <a:spcPts val="600"/>
              </a:spcAft>
            </a:pPr>
            <a:r>
              <a:rPr lang="x-none" sz="2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5) All scientific reasoning is based on scientific DATA, INFORMATION, and EVIDENCE.</a:t>
            </a:r>
            <a:endParaRPr lang="en-US" sz="22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540385" marR="0" indent="-360045" algn="just">
              <a:spcBef>
                <a:spcPts val="600"/>
              </a:spcBef>
              <a:spcAft>
                <a:spcPts val="600"/>
              </a:spcAft>
            </a:pPr>
            <a:r>
              <a:rPr lang="x-none" sz="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US" sz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540385" marR="0" indent="-360045" algn="just">
              <a:spcBef>
                <a:spcPts val="600"/>
              </a:spcBef>
              <a:spcAft>
                <a:spcPts val="600"/>
              </a:spcAft>
            </a:pPr>
            <a:r>
              <a:rPr lang="x-none" sz="2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6) All scientific reasoning is expressed through, and shaped by, scientific CONCEPTS and IDEAS.</a:t>
            </a:r>
            <a:endParaRPr lang="en-US" sz="22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540385" marR="0" indent="-360045" algn="just">
              <a:spcBef>
                <a:spcPts val="600"/>
              </a:spcBef>
              <a:spcAft>
                <a:spcPts val="600"/>
              </a:spcAft>
            </a:pPr>
            <a:r>
              <a:rPr lang="x-none" sz="105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US" sz="105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540385" marR="0" indent="-360045" algn="just">
              <a:spcBef>
                <a:spcPts val="600"/>
              </a:spcBef>
              <a:spcAft>
                <a:spcPts val="600"/>
              </a:spcAft>
            </a:pPr>
            <a:r>
              <a:rPr lang="x-none" sz="2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7) All scientific reasoning contains INFERENCES or INTERPRETATIONS by which we draw scientific CONCLUSIONS and give meaning to scientific data.</a:t>
            </a:r>
            <a:endParaRPr lang="en-US" sz="22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540385" marR="0" indent="-360045" algn="just">
              <a:spcBef>
                <a:spcPts val="600"/>
              </a:spcBef>
              <a:spcAft>
                <a:spcPts val="600"/>
              </a:spcAft>
            </a:pPr>
            <a:r>
              <a:rPr lang="x-none" sz="1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US" sz="1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540385" marR="0" indent="-360045" algn="just">
              <a:spcBef>
                <a:spcPts val="600"/>
              </a:spcBef>
              <a:spcAft>
                <a:spcPts val="600"/>
              </a:spcAft>
            </a:pPr>
            <a:r>
              <a:rPr lang="x-none" sz="2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8) All scientific reasoning leads somewhere or has IMPLICATIONS and CONSEQUENCES.</a:t>
            </a:r>
            <a:endParaRPr lang="en-US" sz="22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7166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749186" y="500063"/>
            <a:ext cx="785188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511" y="-10510"/>
            <a:ext cx="121960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6824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677</TotalTime>
  <Words>156</Words>
  <Application>Microsoft Office PowerPoint</Application>
  <PresentationFormat>شاشة عريضة</PresentationFormat>
  <Paragraphs>26</Paragraphs>
  <Slides>4</Slides>
  <Notes>2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5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4</vt:i4>
      </vt:variant>
    </vt:vector>
  </HeadingPairs>
  <TitlesOfParts>
    <vt:vector size="10" baseType="lpstr">
      <vt:lpstr>Arial</vt:lpstr>
      <vt:lpstr>Bookman Old Style</vt:lpstr>
      <vt:lpstr>Calibri</vt:lpstr>
      <vt:lpstr>Calibri Light</vt:lpstr>
      <vt:lpstr>Times New Roman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moustafamahmoud.eg@hotmail.com</dc:creator>
  <cp:lastModifiedBy>Mohamed Hafez</cp:lastModifiedBy>
  <cp:revision>76</cp:revision>
  <dcterms:created xsi:type="dcterms:W3CDTF">2019-11-03T13:54:28Z</dcterms:created>
  <dcterms:modified xsi:type="dcterms:W3CDTF">2025-10-27T11:09:07Z</dcterms:modified>
</cp:coreProperties>
</file>
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346" r:id="rId3"/>
    <p:sldId id="354" r:id="rId4"/>
    <p:sldId id="347" r:id="rId5"/>
    <p:sldId id="348" r:id="rId6"/>
    <p:sldId id="349" r:id="rId7"/>
    <p:sldId id="352" r:id="rId8"/>
    <p:sldId id="355" r:id="rId9"/>
    <p:sldId id="356" r:id="rId10"/>
    <p:sldId id="357" r:id="rId11"/>
    <p:sldId id="34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82" d="100"/>
          <a:sy n="82" d="100"/>
        </p:scale>
        <p:origin x="62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D6AA2C1-30FE-4A5B-9F15-98834576BABB}" type="datetimeFigureOut">
              <a:rPr lang="en-US" smtClean="0"/>
              <a:pPr/>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377994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AA2C1-30FE-4A5B-9F15-98834576BABB}" type="datetimeFigureOut">
              <a:rPr lang="en-US" smtClean="0"/>
              <a:pPr/>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847430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6AA2C1-30FE-4A5B-9F15-98834576BABB}" type="datetimeFigureOut">
              <a:rPr lang="en-US" smtClean="0"/>
              <a:pPr/>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478387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6AA2C1-30FE-4A5B-9F15-98834576BABB}" type="datetimeFigureOut">
              <a:rPr lang="en-US" smtClean="0"/>
              <a:pPr/>
              <a:t>10/31/2025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209816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D6AA2C1-30FE-4A5B-9F15-98834576BABB}" type="datetimeFigureOut">
              <a:rPr lang="en-US" smtClean="0"/>
              <a:pPr/>
              <a:t>10/31/2025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1992863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D6AA2C1-30FE-4A5B-9F15-98834576BABB}" type="datetimeFigureOut">
              <a:rPr lang="en-US" smtClean="0"/>
              <a:pPr/>
              <a:t>10/31/2025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3237954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6AA2C1-30FE-4A5B-9F15-98834576BABB}" type="datetimeFigureOut">
              <a:rPr lang="en-US" smtClean="0"/>
              <a:pPr/>
              <a:t>10/31/2025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3749527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6AA2C1-30FE-4A5B-9F15-98834576BABB}" type="datetimeFigureOut">
              <a:rPr lang="en-US" smtClean="0"/>
              <a:pPr/>
              <a:t>10/31/2025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1378439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6AA2C1-30FE-4A5B-9F15-98834576BABB}" type="datetimeFigureOut">
              <a:rPr lang="en-US" smtClean="0"/>
              <a:pPr/>
              <a:t>10/31/2025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3626821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AA2C1-30FE-4A5B-9F15-98834576BABB}" type="datetimeFigureOut">
              <a:rPr lang="en-US" smtClean="0"/>
              <a:pPr/>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175007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AA2C1-30FE-4A5B-9F15-98834576BABB}" type="datetimeFigureOut">
              <a:rPr lang="en-US" smtClean="0"/>
              <a:pPr/>
              <a:t>10/31/2025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42555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6AA2C1-30FE-4A5B-9F15-98834576BABB}" type="datetimeFigureOut">
              <a:rPr lang="en-US" smtClean="0"/>
              <a:pPr/>
              <a:t>10/31/2025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2369481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2196053" cy="6858000"/>
          </a:xfrm>
          <a:prstGeom prst="rect">
            <a:avLst/>
          </a:prstGeom>
        </p:spPr>
      </p:pic>
      <p:sp>
        <p:nvSpPr>
          <p:cNvPr id="4" name="TextBox 3"/>
          <p:cNvSpPr txBox="1"/>
          <p:nvPr/>
        </p:nvSpPr>
        <p:spPr>
          <a:xfrm>
            <a:off x="914399" y="3512457"/>
            <a:ext cx="9985829" cy="2585323"/>
          </a:xfrm>
          <a:prstGeom prst="rect">
            <a:avLst/>
          </a:prstGeom>
          <a:noFill/>
        </p:spPr>
        <p:txBody>
          <a:bodyPr wrap="square" rtlCol="0">
            <a:spAutoFit/>
          </a:bodyPr>
          <a:lstStyle/>
          <a:p>
            <a:r>
              <a:rPr lang="en-US" sz="3600" b="1" dirty="0"/>
              <a:t>Title: </a:t>
            </a:r>
            <a:r>
              <a:rPr lang="en-US" sz="36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a:t>
            </a:r>
          </a:p>
          <a:p>
            <a:endParaRPr lang="en-US" sz="32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pPr algn="ctr"/>
            <a:r>
              <a:rPr lang="en-US" sz="3600" b="1" dirty="0">
                <a:solidFill>
                  <a:srgbClr val="FF0000"/>
                </a:solidFill>
              </a:rPr>
              <a:t>The Characteristics of Scientific Knowledge</a:t>
            </a:r>
          </a:p>
          <a:p>
            <a:pPr algn="ctr"/>
            <a:endParaRPr lang="en-US" b="1" dirty="0"/>
          </a:p>
          <a:p>
            <a:pPr algn="ctr"/>
            <a:r>
              <a:rPr lang="en-US" sz="3600" b="1" dirty="0"/>
              <a:t> </a:t>
            </a:r>
          </a:p>
        </p:txBody>
      </p:sp>
    </p:spTree>
    <p:extLst>
      <p:ext uri="{BB962C8B-B14F-4D97-AF65-F5344CB8AC3E}">
        <p14:creationId xmlns:p14="http://schemas.microsoft.com/office/powerpoint/2010/main" val="4104937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The Characteristics of Scientific Knowledge</a:t>
            </a:r>
            <a:endParaRPr lang="en-US" sz="2400" b="1" dirty="0"/>
          </a:p>
        </p:txBody>
      </p:sp>
      <p:sp>
        <p:nvSpPr>
          <p:cNvPr id="10" name="Rounded Rectangle 9"/>
          <p:cNvSpPr/>
          <p:nvPr/>
        </p:nvSpPr>
        <p:spPr>
          <a:xfrm>
            <a:off x="1028759" y="2628197"/>
            <a:ext cx="9534135" cy="1918045"/>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spcBef>
                <a:spcPts val="600"/>
              </a:spcBef>
              <a:spcAft>
                <a:spcPts val="600"/>
              </a:spcAft>
            </a:pPr>
            <a:r>
              <a:rPr lang="en-US" sz="2800" b="1" spc="50" dirty="0">
                <a:ln w="12700" cmpd="sng">
                  <a:prstDash val="solid"/>
                </a:ln>
                <a:solidFill>
                  <a:schemeClr val="tx1"/>
                </a:solidFill>
                <a:effectLst>
                  <a:glow rad="101600">
                    <a:schemeClr val="accent2">
                      <a:lumMod val="40000"/>
                      <a:lumOff val="60000"/>
                      <a:alpha val="40000"/>
                    </a:schemeClr>
                  </a:glow>
                </a:effectLst>
              </a:rPr>
              <a:t>Scientific knowledge is kind of knowledge has the following characteristics:</a:t>
            </a:r>
          </a:p>
        </p:txBody>
      </p:sp>
    </p:spTree>
    <p:extLst>
      <p:ext uri="{BB962C8B-B14F-4D97-AF65-F5344CB8AC3E}">
        <p14:creationId xmlns:p14="http://schemas.microsoft.com/office/powerpoint/2010/main" val="3163803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The Characteristics of Scientific Knowledge</a:t>
            </a:r>
            <a:endParaRPr lang="en-US" sz="2400" b="1" dirty="0"/>
          </a:p>
        </p:txBody>
      </p:sp>
      <p:sp>
        <p:nvSpPr>
          <p:cNvPr id="7" name="Rounded Rectangle 6"/>
          <p:cNvSpPr/>
          <p:nvPr/>
        </p:nvSpPr>
        <p:spPr>
          <a:xfrm>
            <a:off x="618186" y="2228044"/>
            <a:ext cx="10496282" cy="4005331"/>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defTabSz="1155700">
              <a:lnSpc>
                <a:spcPct val="130000"/>
              </a:lnSpc>
              <a:spcBef>
                <a:spcPts val="600"/>
              </a:spcBef>
              <a:spcAft>
                <a:spcPts val="600"/>
              </a:spcAft>
            </a:pPr>
            <a:r>
              <a:rPr lang="en-US" sz="2400" b="1" spc="50" dirty="0">
                <a:ln w="12700" cmpd="sng">
                  <a:prstDash val="solid"/>
                </a:ln>
                <a:solidFill>
                  <a:schemeClr val="tx1"/>
                </a:solidFill>
                <a:effectLst>
                  <a:glow rad="101600">
                    <a:schemeClr val="accent2">
                      <a:lumMod val="40000"/>
                      <a:lumOff val="60000"/>
                      <a:alpha val="40000"/>
                    </a:schemeClr>
                  </a:glow>
                </a:effectLst>
              </a:rPr>
              <a:t>In our daily life, when we speak of the facts of the world, we use the natural language or the ordinary language. We say (this is red, or tall or speed) this language called qualitative language.</a:t>
            </a:r>
          </a:p>
          <a:p>
            <a:pPr lvl="0" algn="just" defTabSz="1155700">
              <a:lnSpc>
                <a:spcPct val="130000"/>
              </a:lnSpc>
              <a:spcBef>
                <a:spcPts val="600"/>
              </a:spcBef>
              <a:spcAft>
                <a:spcPts val="600"/>
              </a:spcAft>
            </a:pPr>
            <a:r>
              <a:rPr lang="en-US" sz="2400" b="1" spc="50" dirty="0">
                <a:ln w="12700" cmpd="sng">
                  <a:prstDash val="solid"/>
                </a:ln>
                <a:solidFill>
                  <a:schemeClr val="tx1"/>
                </a:solidFill>
                <a:effectLst>
                  <a:glow rad="101600">
                    <a:schemeClr val="accent2">
                      <a:lumMod val="40000"/>
                      <a:lumOff val="60000"/>
                      <a:alpha val="40000"/>
                    </a:schemeClr>
                  </a:glow>
                </a:effectLst>
              </a:rPr>
              <a:t>Science uses an accurate words and expressions. It uses a mathematical language, i.e. the quantitative language. </a:t>
            </a:r>
          </a:p>
          <a:p>
            <a:pPr algn="just" defTabSz="1155700">
              <a:lnSpc>
                <a:spcPct val="130000"/>
              </a:lnSpc>
              <a:spcBef>
                <a:spcPts val="600"/>
              </a:spcBef>
              <a:spcAft>
                <a:spcPts val="600"/>
              </a:spcAft>
            </a:pPr>
            <a:r>
              <a:rPr lang="en-US" sz="2400" b="1" spc="50" dirty="0">
                <a:ln w="12700" cmpd="sng">
                  <a:prstDash val="solid"/>
                </a:ln>
                <a:solidFill>
                  <a:schemeClr val="tx1"/>
                </a:solidFill>
                <a:effectLst>
                  <a:glow rad="101600">
                    <a:schemeClr val="accent2">
                      <a:lumMod val="40000"/>
                      <a:lumOff val="60000"/>
                      <a:alpha val="40000"/>
                    </a:schemeClr>
                  </a:glow>
                </a:effectLst>
              </a:rPr>
              <a:t>Quantitative language is very important for the progress of science and technology.</a:t>
            </a:r>
          </a:p>
        </p:txBody>
      </p:sp>
      <p:sp>
        <p:nvSpPr>
          <p:cNvPr id="6" name="Rectangle 5"/>
          <p:cNvSpPr/>
          <p:nvPr/>
        </p:nvSpPr>
        <p:spPr>
          <a:xfrm>
            <a:off x="626573" y="1343926"/>
            <a:ext cx="9579934" cy="738664"/>
          </a:xfrm>
          <a:prstGeom prst="rect">
            <a:avLst/>
          </a:prstGeom>
          <a:noFill/>
        </p:spPr>
        <p:txBody>
          <a:bodyPr wrap="square" lIns="91440" tIns="45720" rIns="91440" bIns="45720">
            <a:spAutoFit/>
          </a:bodyPr>
          <a:lstStyle/>
          <a:p>
            <a:r>
              <a:rPr lang="en-US" sz="4200" b="1" spc="50" dirty="0">
                <a:ln w="12700" cmpd="sng">
                  <a:prstDash val="solid"/>
                </a:ln>
                <a:effectLst>
                  <a:glow rad="101600">
                    <a:schemeClr val="accent2">
                      <a:lumMod val="40000"/>
                      <a:lumOff val="60000"/>
                      <a:alpha val="40000"/>
                    </a:schemeClr>
                  </a:glow>
                </a:effectLst>
              </a:rPr>
              <a:t>1-  Quantitative (or accurate) Language </a:t>
            </a:r>
          </a:p>
        </p:txBody>
      </p:sp>
    </p:spTree>
    <p:extLst>
      <p:ext uri="{BB962C8B-B14F-4D97-AF65-F5344CB8AC3E}">
        <p14:creationId xmlns:p14="http://schemas.microsoft.com/office/powerpoint/2010/main" val="3163803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The Characteristics of Scientific Knowledge</a:t>
            </a:r>
            <a:endParaRPr lang="en-US" sz="2400" b="1" dirty="0"/>
          </a:p>
        </p:txBody>
      </p:sp>
      <p:sp>
        <p:nvSpPr>
          <p:cNvPr id="8" name="Rectangle 7"/>
          <p:cNvSpPr/>
          <p:nvPr/>
        </p:nvSpPr>
        <p:spPr>
          <a:xfrm>
            <a:off x="935666" y="1359475"/>
            <a:ext cx="6150933" cy="738664"/>
          </a:xfrm>
          <a:prstGeom prst="rect">
            <a:avLst/>
          </a:prstGeom>
          <a:noFill/>
        </p:spPr>
        <p:txBody>
          <a:bodyPr wrap="square" lIns="91440" tIns="45720" rIns="91440" bIns="45720">
            <a:spAutoFit/>
          </a:bodyPr>
          <a:lstStyle/>
          <a:p>
            <a:r>
              <a:rPr lang="en-US" sz="4200" b="1" spc="50" dirty="0">
                <a:ln w="12700" cmpd="sng">
                  <a:prstDash val="solid"/>
                </a:ln>
                <a:effectLst>
                  <a:glow rad="101600">
                    <a:schemeClr val="accent2">
                      <a:lumMod val="40000"/>
                      <a:lumOff val="60000"/>
                      <a:alpha val="40000"/>
                    </a:schemeClr>
                  </a:glow>
                </a:effectLst>
              </a:rPr>
              <a:t>2-  Generalization</a:t>
            </a:r>
            <a:endParaRPr lang="en-US" sz="4200" b="1" dirty="0">
              <a:ln w="9525">
                <a:solidFill>
                  <a:schemeClr val="bg1"/>
                </a:solidFill>
                <a:prstDash val="solid"/>
              </a:ln>
              <a:effectLst>
                <a:outerShdw blurRad="12700" dist="38100" dir="2700000" algn="tl" rotWithShape="0">
                  <a:schemeClr val="bg1">
                    <a:lumMod val="50000"/>
                  </a:schemeClr>
                </a:outerShdw>
              </a:effectLst>
            </a:endParaRPr>
          </a:p>
        </p:txBody>
      </p:sp>
      <p:sp>
        <p:nvSpPr>
          <p:cNvPr id="10" name="Rounded Rectangle 9"/>
          <p:cNvSpPr/>
          <p:nvPr/>
        </p:nvSpPr>
        <p:spPr>
          <a:xfrm>
            <a:off x="1014585" y="2318197"/>
            <a:ext cx="9534135" cy="3065172"/>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defTabSz="1155700">
              <a:lnSpc>
                <a:spcPct val="150000"/>
              </a:lnSpc>
              <a:spcBef>
                <a:spcPts val="600"/>
              </a:spcBef>
              <a:spcAft>
                <a:spcPts val="1200"/>
              </a:spcAft>
            </a:pPr>
            <a:r>
              <a:rPr lang="en-US" sz="2800" b="1" spc="50" dirty="0">
                <a:ln w="12700" cmpd="sng">
                  <a:prstDash val="solid"/>
                </a:ln>
                <a:solidFill>
                  <a:schemeClr val="tx1"/>
                </a:solidFill>
                <a:effectLst>
                  <a:glow rad="101600">
                    <a:schemeClr val="accent2">
                      <a:lumMod val="40000"/>
                      <a:lumOff val="60000"/>
                      <a:alpha val="40000"/>
                    </a:schemeClr>
                  </a:glow>
                </a:effectLst>
              </a:rPr>
              <a:t>Generalization is a logical process of transition from the particular to the universal, from less general to more general knowledge (e.g. the transition from the concept of "heat" to the concept of "energy").</a:t>
            </a:r>
          </a:p>
        </p:txBody>
      </p:sp>
    </p:spTree>
    <p:extLst>
      <p:ext uri="{BB962C8B-B14F-4D97-AF65-F5344CB8AC3E}">
        <p14:creationId xmlns:p14="http://schemas.microsoft.com/office/powerpoint/2010/main" val="3163803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8637"/>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The Characteristics of Scientific Knowledge</a:t>
            </a:r>
            <a:endParaRPr lang="en-US" sz="2400" b="1" dirty="0"/>
          </a:p>
        </p:txBody>
      </p:sp>
      <p:sp>
        <p:nvSpPr>
          <p:cNvPr id="7" name="Rounded Rectangle 6"/>
          <p:cNvSpPr/>
          <p:nvPr/>
        </p:nvSpPr>
        <p:spPr>
          <a:xfrm>
            <a:off x="1011039" y="2163651"/>
            <a:ext cx="10412522" cy="3825024"/>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defTabSz="1155700">
              <a:lnSpc>
                <a:spcPct val="150000"/>
              </a:lnSpc>
              <a:spcBef>
                <a:spcPts val="200"/>
              </a:spcBef>
              <a:spcAft>
                <a:spcPts val="200"/>
              </a:spcAft>
            </a:pPr>
            <a:r>
              <a:rPr lang="en-US" sz="2400" b="1" spc="50" dirty="0">
                <a:ln w="12700" cmpd="sng">
                  <a:prstDash val="solid"/>
                </a:ln>
                <a:solidFill>
                  <a:schemeClr val="tx1"/>
                </a:solidFill>
                <a:effectLst>
                  <a:glow rad="101600">
                    <a:schemeClr val="accent2">
                      <a:lumMod val="40000"/>
                      <a:lumOff val="60000"/>
                      <a:alpha val="40000"/>
                    </a:schemeClr>
                  </a:glow>
                </a:effectLst>
              </a:rPr>
              <a:t>Scientific knowledge is objective. Objectivity simply means the ability to see and accept facts as they are, not as one might wish them to be. </a:t>
            </a:r>
          </a:p>
          <a:p>
            <a:pPr lvl="0" defTabSz="1155700">
              <a:lnSpc>
                <a:spcPct val="150000"/>
              </a:lnSpc>
              <a:spcBef>
                <a:spcPts val="200"/>
              </a:spcBef>
              <a:spcAft>
                <a:spcPts val="200"/>
              </a:spcAft>
            </a:pPr>
            <a:r>
              <a:rPr lang="en-US" sz="2400" b="1" spc="50" dirty="0">
                <a:ln w="12700" cmpd="sng">
                  <a:prstDash val="solid"/>
                </a:ln>
                <a:solidFill>
                  <a:schemeClr val="tx1"/>
                </a:solidFill>
                <a:effectLst>
                  <a:glow rad="101600">
                    <a:schemeClr val="accent2">
                      <a:lumMod val="40000"/>
                      <a:lumOff val="60000"/>
                      <a:alpha val="40000"/>
                    </a:schemeClr>
                  </a:glow>
                </a:effectLst>
              </a:rPr>
              <a:t>When we say 'be objective' we typically mean a number of things: </a:t>
            </a:r>
          </a:p>
          <a:p>
            <a:pPr lvl="0" defTabSz="1155700">
              <a:lnSpc>
                <a:spcPct val="150000"/>
              </a:lnSpc>
              <a:spcBef>
                <a:spcPts val="200"/>
              </a:spcBef>
              <a:spcAft>
                <a:spcPts val="200"/>
              </a:spcAft>
            </a:pPr>
            <a:r>
              <a:rPr lang="en-US" sz="2400" b="1" spc="50" dirty="0">
                <a:ln w="12700" cmpd="sng">
                  <a:prstDash val="solid"/>
                </a:ln>
                <a:solidFill>
                  <a:schemeClr val="tx1"/>
                </a:solidFill>
                <a:effectLst>
                  <a:glow rad="101600">
                    <a:schemeClr val="accent2">
                      <a:lumMod val="40000"/>
                      <a:lumOff val="60000"/>
                      <a:alpha val="40000"/>
                    </a:schemeClr>
                  </a:glow>
                </a:effectLst>
              </a:rPr>
              <a:t>   - Be unemotional, not getting agitated or distressed in any way.  </a:t>
            </a:r>
          </a:p>
          <a:p>
            <a:pPr lvl="0" defTabSz="1155700">
              <a:lnSpc>
                <a:spcPct val="150000"/>
              </a:lnSpc>
              <a:spcBef>
                <a:spcPts val="200"/>
              </a:spcBef>
              <a:spcAft>
                <a:spcPts val="200"/>
              </a:spcAft>
            </a:pPr>
            <a:r>
              <a:rPr lang="en-US" sz="2400" b="1" spc="50" dirty="0">
                <a:ln w="12700" cmpd="sng">
                  <a:prstDash val="solid"/>
                </a:ln>
                <a:solidFill>
                  <a:schemeClr val="tx1"/>
                </a:solidFill>
                <a:effectLst>
                  <a:glow rad="101600">
                    <a:schemeClr val="accent2">
                      <a:lumMod val="40000"/>
                      <a:lumOff val="60000"/>
                      <a:alpha val="40000"/>
                    </a:schemeClr>
                  </a:glow>
                </a:effectLst>
              </a:rPr>
              <a:t>   - See things as they really are, not from a personally biased viewpoint.   </a:t>
            </a:r>
          </a:p>
          <a:p>
            <a:pPr lvl="0" defTabSz="1155700">
              <a:lnSpc>
                <a:spcPct val="150000"/>
              </a:lnSpc>
              <a:spcBef>
                <a:spcPts val="200"/>
              </a:spcBef>
              <a:spcAft>
                <a:spcPts val="200"/>
              </a:spcAft>
            </a:pPr>
            <a:r>
              <a:rPr lang="en-US" sz="2400" b="1" spc="50" dirty="0">
                <a:ln w="12700" cmpd="sng">
                  <a:prstDash val="solid"/>
                </a:ln>
                <a:solidFill>
                  <a:schemeClr val="tx1"/>
                </a:solidFill>
                <a:effectLst>
                  <a:glow rad="101600">
                    <a:schemeClr val="accent2">
                      <a:lumMod val="40000"/>
                      <a:lumOff val="60000"/>
                      <a:alpha val="40000"/>
                    </a:schemeClr>
                  </a:glow>
                </a:effectLst>
              </a:rPr>
              <a:t>   - Be neutral, understanding both points of view.</a:t>
            </a:r>
          </a:p>
        </p:txBody>
      </p:sp>
      <p:sp>
        <p:nvSpPr>
          <p:cNvPr id="8" name="Rectangle 7"/>
          <p:cNvSpPr/>
          <p:nvPr/>
        </p:nvSpPr>
        <p:spPr>
          <a:xfrm>
            <a:off x="742483" y="1281033"/>
            <a:ext cx="3560133" cy="738664"/>
          </a:xfrm>
          <a:prstGeom prst="rect">
            <a:avLst/>
          </a:prstGeom>
          <a:noFill/>
        </p:spPr>
        <p:txBody>
          <a:bodyPr wrap="square" lIns="91440" tIns="45720" rIns="91440" bIns="45720">
            <a:spAutoFit/>
          </a:bodyPr>
          <a:lstStyle/>
          <a:p>
            <a:r>
              <a:rPr lang="en-US" sz="4200" b="1" spc="50" dirty="0">
                <a:ln w="12700" cmpd="sng">
                  <a:prstDash val="solid"/>
                </a:ln>
                <a:effectLst>
                  <a:glow rad="101600">
                    <a:schemeClr val="accent2">
                      <a:lumMod val="40000"/>
                      <a:lumOff val="60000"/>
                      <a:alpha val="40000"/>
                    </a:schemeClr>
                  </a:glow>
                </a:effectLst>
              </a:rPr>
              <a:t>3-  Objectivity    </a:t>
            </a:r>
          </a:p>
        </p:txBody>
      </p:sp>
    </p:spTree>
    <p:extLst>
      <p:ext uri="{BB962C8B-B14F-4D97-AF65-F5344CB8AC3E}">
        <p14:creationId xmlns:p14="http://schemas.microsoft.com/office/powerpoint/2010/main" val="3163803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The Characteristics of Scientific Knowledge</a:t>
            </a:r>
            <a:endParaRPr lang="en-US" sz="2400" b="1" dirty="0"/>
          </a:p>
        </p:txBody>
      </p:sp>
      <p:sp>
        <p:nvSpPr>
          <p:cNvPr id="7" name="Rounded Rectangle 6"/>
          <p:cNvSpPr/>
          <p:nvPr/>
        </p:nvSpPr>
        <p:spPr>
          <a:xfrm>
            <a:off x="985282" y="1571222"/>
            <a:ext cx="9534135" cy="3970062"/>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defTabSz="1155700">
              <a:lnSpc>
                <a:spcPct val="150000"/>
              </a:lnSpc>
              <a:spcBef>
                <a:spcPts val="600"/>
              </a:spcBef>
              <a:spcAft>
                <a:spcPts val="600"/>
              </a:spcAft>
            </a:pPr>
            <a:r>
              <a:rPr lang="en-US" sz="2600" b="1" spc="50" dirty="0">
                <a:ln w="12700" cmpd="sng">
                  <a:prstDash val="solid"/>
                </a:ln>
                <a:solidFill>
                  <a:schemeClr val="tx1"/>
                </a:solidFill>
                <a:effectLst>
                  <a:glow rad="101600">
                    <a:schemeClr val="accent2">
                      <a:lumMod val="40000"/>
                      <a:lumOff val="60000"/>
                      <a:alpha val="40000"/>
                    </a:schemeClr>
                  </a:glow>
                </a:effectLst>
              </a:rPr>
              <a:t>The cooperative nature of scientific research accounts for the "</a:t>
            </a:r>
            <a:r>
              <a:rPr lang="en-US" sz="2600" b="1" spc="50" dirty="0">
                <a:ln w="12700" cmpd="sng">
                  <a:prstDash val="solid"/>
                </a:ln>
                <a:solidFill>
                  <a:srgbClr val="FF0000"/>
                </a:solidFill>
                <a:effectLst>
                  <a:glow rad="101600">
                    <a:schemeClr val="accent2">
                      <a:lumMod val="40000"/>
                      <a:lumOff val="60000"/>
                      <a:alpha val="40000"/>
                    </a:schemeClr>
                  </a:glow>
                </a:effectLst>
              </a:rPr>
              <a:t>Objectivity</a:t>
            </a:r>
            <a:r>
              <a:rPr lang="en-US" sz="2600" b="1" spc="50" dirty="0">
                <a:ln w="12700" cmpd="sng">
                  <a:prstDash val="solid"/>
                </a:ln>
                <a:solidFill>
                  <a:schemeClr val="tx1"/>
                </a:solidFill>
                <a:effectLst>
                  <a:glow rad="101600">
                    <a:schemeClr val="accent2">
                      <a:lumMod val="40000"/>
                      <a:lumOff val="60000"/>
                      <a:alpha val="40000"/>
                    </a:schemeClr>
                  </a:glow>
                </a:effectLst>
              </a:rPr>
              <a:t>" of science. </a:t>
            </a:r>
          </a:p>
          <a:p>
            <a:pPr lvl="0" algn="just" defTabSz="1155700">
              <a:lnSpc>
                <a:spcPct val="150000"/>
              </a:lnSpc>
              <a:spcBef>
                <a:spcPts val="600"/>
              </a:spcBef>
              <a:spcAft>
                <a:spcPts val="600"/>
              </a:spcAft>
            </a:pPr>
            <a:r>
              <a:rPr lang="en-US" sz="2600" b="1" spc="50" dirty="0">
                <a:ln w="12700" cmpd="sng">
                  <a:prstDash val="solid"/>
                </a:ln>
                <a:solidFill>
                  <a:schemeClr val="tx1"/>
                </a:solidFill>
                <a:effectLst>
                  <a:glow rad="101600">
                    <a:schemeClr val="accent2">
                      <a:lumMod val="40000"/>
                      <a:lumOff val="60000"/>
                      <a:alpha val="40000"/>
                    </a:schemeClr>
                  </a:glow>
                </a:effectLst>
              </a:rPr>
              <a:t>Repetition and careful checking by qualified observers minimizes the intrusion of subjective factors and helps maintain the “</a:t>
            </a:r>
            <a:r>
              <a:rPr lang="en-US" sz="2600" b="1" spc="50" dirty="0">
                <a:ln w="12700" cmpd="sng">
                  <a:prstDash val="solid"/>
                </a:ln>
                <a:solidFill>
                  <a:srgbClr val="FF0000"/>
                </a:solidFill>
                <a:effectLst>
                  <a:glow rad="101600">
                    <a:schemeClr val="accent2">
                      <a:lumMod val="40000"/>
                      <a:lumOff val="60000"/>
                      <a:alpha val="40000"/>
                    </a:schemeClr>
                  </a:glow>
                </a:effectLst>
              </a:rPr>
              <a:t>objectivity</a:t>
            </a:r>
            <a:r>
              <a:rPr lang="en-US" sz="2600" b="1" spc="50" dirty="0">
                <a:ln w="12700" cmpd="sng">
                  <a:prstDash val="solid"/>
                </a:ln>
                <a:solidFill>
                  <a:schemeClr val="tx1"/>
                </a:solidFill>
                <a:effectLst>
                  <a:glow rad="101600">
                    <a:schemeClr val="accent2">
                      <a:lumMod val="40000"/>
                      <a:lumOff val="60000"/>
                      <a:alpha val="40000"/>
                    </a:schemeClr>
                  </a:glow>
                </a:effectLst>
              </a:rPr>
              <a:t>”</a:t>
            </a:r>
            <a:r>
              <a:rPr lang="en-US" sz="2600" b="1" spc="50" dirty="0">
                <a:ln w="12700" cmpd="sng">
                  <a:prstDash val="solid"/>
                </a:ln>
                <a:solidFill>
                  <a:srgbClr val="FF0000"/>
                </a:solidFill>
                <a:effectLst>
                  <a:glow rad="101600">
                    <a:schemeClr val="accent2">
                      <a:lumMod val="40000"/>
                      <a:lumOff val="60000"/>
                      <a:alpha val="40000"/>
                    </a:schemeClr>
                  </a:glow>
                </a:effectLst>
              </a:rPr>
              <a:t> </a:t>
            </a:r>
            <a:r>
              <a:rPr lang="en-US" sz="2600" b="1" spc="50" dirty="0">
                <a:ln w="12700" cmpd="sng">
                  <a:prstDash val="solid"/>
                </a:ln>
                <a:solidFill>
                  <a:schemeClr val="tx1"/>
                </a:solidFill>
                <a:effectLst>
                  <a:glow rad="101600">
                    <a:schemeClr val="accent2">
                      <a:lumMod val="40000"/>
                      <a:lumOff val="60000"/>
                      <a:alpha val="40000"/>
                    </a:schemeClr>
                  </a:glow>
                </a:effectLst>
              </a:rPr>
              <a:t>of science.</a:t>
            </a:r>
          </a:p>
        </p:txBody>
      </p:sp>
    </p:spTree>
    <p:extLst>
      <p:ext uri="{BB962C8B-B14F-4D97-AF65-F5344CB8AC3E}">
        <p14:creationId xmlns:p14="http://schemas.microsoft.com/office/powerpoint/2010/main" val="3163803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The Characteristics of Scientific Knowledge</a:t>
            </a:r>
            <a:endParaRPr lang="en-US" sz="2400" b="1" dirty="0"/>
          </a:p>
        </p:txBody>
      </p:sp>
      <p:sp>
        <p:nvSpPr>
          <p:cNvPr id="6" name="Rounded Rectangle 5"/>
          <p:cNvSpPr/>
          <p:nvPr/>
        </p:nvSpPr>
        <p:spPr>
          <a:xfrm>
            <a:off x="879281" y="2310789"/>
            <a:ext cx="10433437" cy="1181861"/>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155700">
              <a:lnSpc>
                <a:spcPct val="150000"/>
              </a:lnSpc>
              <a:spcBef>
                <a:spcPts val="600"/>
              </a:spcBef>
              <a:spcAft>
                <a:spcPts val="600"/>
              </a:spcAft>
            </a:pPr>
            <a:r>
              <a:rPr lang="en-US" sz="2800" b="1" spc="50" dirty="0">
                <a:ln w="12700" cmpd="sng">
                  <a:prstDash val="solid"/>
                </a:ln>
                <a:solidFill>
                  <a:schemeClr val="tx1"/>
                </a:solidFill>
                <a:effectLst>
                  <a:glow rad="101600">
                    <a:schemeClr val="accent2">
                      <a:lumMod val="40000"/>
                      <a:lumOff val="60000"/>
                      <a:alpha val="40000"/>
                    </a:schemeClr>
                  </a:glow>
                </a:effectLst>
              </a:rPr>
              <a:t>Testability is the degree to which a system or hypothesis can be tested to determine its state or validate its claims.</a:t>
            </a:r>
          </a:p>
        </p:txBody>
      </p:sp>
      <p:sp>
        <p:nvSpPr>
          <p:cNvPr id="7" name="Rounded Rectangle 6"/>
          <p:cNvSpPr/>
          <p:nvPr/>
        </p:nvSpPr>
        <p:spPr>
          <a:xfrm>
            <a:off x="832058" y="3812147"/>
            <a:ext cx="10451157" cy="1962360"/>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155700">
              <a:lnSpc>
                <a:spcPct val="150000"/>
              </a:lnSpc>
              <a:spcBef>
                <a:spcPts val="600"/>
              </a:spcBef>
              <a:spcAft>
                <a:spcPts val="600"/>
              </a:spcAft>
            </a:pPr>
            <a:r>
              <a:rPr lang="en-US" sz="2800" b="1" spc="50" dirty="0">
                <a:ln w="12700" cmpd="sng">
                  <a:prstDash val="solid"/>
                </a:ln>
                <a:solidFill>
                  <a:schemeClr val="tx1"/>
                </a:solidFill>
                <a:effectLst>
                  <a:glow rad="101600">
                    <a:schemeClr val="accent2">
                      <a:lumMod val="40000"/>
                      <a:lumOff val="60000"/>
                      <a:alpha val="40000"/>
                    </a:schemeClr>
                  </a:glow>
                </a:effectLst>
              </a:rPr>
              <a:t>The propositions of science are not absolute. Every scientific explanation is regarded as hypothesis ... As a hypothesis, the question of its truth and falsehood is open.</a:t>
            </a:r>
          </a:p>
        </p:txBody>
      </p:sp>
      <p:sp>
        <p:nvSpPr>
          <p:cNvPr id="8" name="Rectangle 7"/>
          <p:cNvSpPr/>
          <p:nvPr/>
        </p:nvSpPr>
        <p:spPr>
          <a:xfrm>
            <a:off x="935666" y="1572125"/>
            <a:ext cx="3529653" cy="738664"/>
          </a:xfrm>
          <a:prstGeom prst="rect">
            <a:avLst/>
          </a:prstGeom>
          <a:noFill/>
        </p:spPr>
        <p:txBody>
          <a:bodyPr wrap="square" lIns="91440" tIns="45720" rIns="91440" bIns="45720">
            <a:spAutoFit/>
          </a:bodyPr>
          <a:lstStyle/>
          <a:p>
            <a:r>
              <a:rPr lang="en-US" sz="4200" b="1" spc="50" dirty="0">
                <a:ln w="12700" cmpd="sng">
                  <a:prstDash val="solid"/>
                </a:ln>
                <a:effectLst>
                  <a:glow rad="101600">
                    <a:schemeClr val="accent2">
                      <a:lumMod val="40000"/>
                      <a:lumOff val="60000"/>
                      <a:alpha val="40000"/>
                    </a:schemeClr>
                  </a:glow>
                </a:effectLst>
              </a:rPr>
              <a:t>4- Testability   </a:t>
            </a:r>
          </a:p>
        </p:txBody>
      </p:sp>
    </p:spTree>
    <p:extLst>
      <p:ext uri="{BB962C8B-B14F-4D97-AF65-F5344CB8AC3E}">
        <p14:creationId xmlns:p14="http://schemas.microsoft.com/office/powerpoint/2010/main" val="3163803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The Characteristics of Scientific Knowledge</a:t>
            </a:r>
            <a:endParaRPr lang="en-US" sz="2400" b="1" dirty="0"/>
          </a:p>
        </p:txBody>
      </p:sp>
      <p:sp>
        <p:nvSpPr>
          <p:cNvPr id="7" name="Rounded Rectangle 6"/>
          <p:cNvSpPr/>
          <p:nvPr/>
        </p:nvSpPr>
        <p:spPr>
          <a:xfrm>
            <a:off x="1061144" y="2276314"/>
            <a:ext cx="10362593" cy="4253423"/>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defTabSz="1155700">
              <a:lnSpc>
                <a:spcPct val="150000"/>
              </a:lnSpc>
              <a:spcBef>
                <a:spcPts val="600"/>
              </a:spcBef>
              <a:spcAft>
                <a:spcPts val="600"/>
              </a:spcAft>
            </a:pPr>
            <a:r>
              <a:rPr lang="en-US" sz="2800" b="1" spc="50" dirty="0">
                <a:ln w="12700" cmpd="sng">
                  <a:prstDash val="solid"/>
                </a:ln>
                <a:solidFill>
                  <a:schemeClr val="tx1"/>
                </a:solidFill>
                <a:effectLst>
                  <a:glow rad="101600">
                    <a:schemeClr val="accent2">
                      <a:lumMod val="40000"/>
                      <a:lumOff val="60000"/>
                      <a:alpha val="40000"/>
                    </a:schemeClr>
                  </a:glow>
                </a:effectLst>
              </a:rPr>
              <a:t>Scientists not only describe the phenomena that are studied, but also try to explain and predict. </a:t>
            </a:r>
          </a:p>
          <a:p>
            <a:pPr lvl="0" algn="just" defTabSz="1155700">
              <a:lnSpc>
                <a:spcPct val="150000"/>
              </a:lnSpc>
              <a:spcBef>
                <a:spcPts val="600"/>
              </a:spcBef>
              <a:spcAft>
                <a:spcPts val="600"/>
              </a:spcAft>
            </a:pPr>
            <a:r>
              <a:rPr lang="en-US" sz="2800" b="1" spc="50" dirty="0">
                <a:ln w="12700" cmpd="sng">
                  <a:prstDash val="solid"/>
                </a:ln>
                <a:solidFill>
                  <a:schemeClr val="tx1"/>
                </a:solidFill>
                <a:effectLst>
                  <a:glow rad="101600">
                    <a:schemeClr val="accent2">
                      <a:lumMod val="40000"/>
                      <a:lumOff val="60000"/>
                      <a:alpha val="40000"/>
                    </a:schemeClr>
                  </a:glow>
                </a:effectLst>
              </a:rPr>
              <a:t>It is typical of the social sciences that have a much lower predictability compared to the natural sciences. The most obvious reasons are the complexity of the subject and the insufficiency in the control, etc.</a:t>
            </a:r>
          </a:p>
        </p:txBody>
      </p:sp>
      <p:sp>
        <p:nvSpPr>
          <p:cNvPr id="8" name="Rectangle 7"/>
          <p:cNvSpPr/>
          <p:nvPr/>
        </p:nvSpPr>
        <p:spPr>
          <a:xfrm>
            <a:off x="935666" y="1434339"/>
            <a:ext cx="4444054" cy="738664"/>
          </a:xfrm>
          <a:prstGeom prst="rect">
            <a:avLst/>
          </a:prstGeom>
          <a:noFill/>
        </p:spPr>
        <p:txBody>
          <a:bodyPr wrap="square" lIns="91440" tIns="45720" rIns="91440" bIns="45720">
            <a:spAutoFit/>
          </a:bodyPr>
          <a:lstStyle/>
          <a:p>
            <a:r>
              <a:rPr lang="en-US" sz="4200" b="1" spc="50" dirty="0">
                <a:ln w="12700" cmpd="sng">
                  <a:prstDash val="solid"/>
                </a:ln>
                <a:effectLst>
                  <a:glow rad="101600">
                    <a:schemeClr val="accent2">
                      <a:lumMod val="40000"/>
                      <a:lumOff val="60000"/>
                      <a:alpha val="40000"/>
                    </a:schemeClr>
                  </a:glow>
                </a:effectLst>
              </a:rPr>
              <a:t>5- Predictability   </a:t>
            </a:r>
          </a:p>
        </p:txBody>
      </p:sp>
    </p:spTree>
    <p:extLst>
      <p:ext uri="{BB962C8B-B14F-4D97-AF65-F5344CB8AC3E}">
        <p14:creationId xmlns:p14="http://schemas.microsoft.com/office/powerpoint/2010/main" val="3163803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The Characteristics of Scientific Knowledge</a:t>
            </a:r>
            <a:endParaRPr lang="en-US" sz="2400" b="1" dirty="0"/>
          </a:p>
        </p:txBody>
      </p:sp>
      <p:sp>
        <p:nvSpPr>
          <p:cNvPr id="6" name="Rounded Rectangle 5"/>
          <p:cNvSpPr/>
          <p:nvPr/>
        </p:nvSpPr>
        <p:spPr>
          <a:xfrm>
            <a:off x="1028760" y="2576061"/>
            <a:ext cx="9534135" cy="2987611"/>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defTabSz="1155700">
              <a:lnSpc>
                <a:spcPct val="150000"/>
              </a:lnSpc>
              <a:spcBef>
                <a:spcPts val="600"/>
              </a:spcBef>
              <a:spcAft>
                <a:spcPts val="600"/>
              </a:spcAft>
            </a:pPr>
            <a:r>
              <a:rPr lang="en-US" sz="2800" b="1" spc="50" dirty="0">
                <a:ln w="12700" cmpd="sng">
                  <a:prstDash val="solid"/>
                </a:ln>
                <a:solidFill>
                  <a:schemeClr val="tx1"/>
                </a:solidFill>
                <a:effectLst>
                  <a:glow rad="101600">
                    <a:schemeClr val="accent2">
                      <a:lumMod val="40000"/>
                      <a:lumOff val="60000"/>
                      <a:alpha val="40000"/>
                    </a:schemeClr>
                  </a:glow>
                </a:effectLst>
              </a:rPr>
              <a:t>Scientific research adopts a certain sequential procedure, an organized plan or design of research for collecting and analysis of facts about the problem under study.</a:t>
            </a:r>
          </a:p>
        </p:txBody>
      </p:sp>
      <p:sp>
        <p:nvSpPr>
          <p:cNvPr id="8" name="Rectangle 7"/>
          <p:cNvSpPr/>
          <p:nvPr/>
        </p:nvSpPr>
        <p:spPr>
          <a:xfrm>
            <a:off x="935666" y="1572125"/>
            <a:ext cx="9610414" cy="738664"/>
          </a:xfrm>
          <a:prstGeom prst="rect">
            <a:avLst/>
          </a:prstGeom>
          <a:noFill/>
        </p:spPr>
        <p:txBody>
          <a:bodyPr wrap="square" lIns="91440" tIns="45720" rIns="91440" bIns="45720">
            <a:spAutoFit/>
          </a:bodyPr>
          <a:lstStyle/>
          <a:p>
            <a:r>
              <a:rPr lang="en-US" sz="4200" b="1" spc="50" dirty="0">
                <a:ln w="12700" cmpd="sng">
                  <a:prstDash val="solid"/>
                </a:ln>
                <a:effectLst>
                  <a:glow rad="101600">
                    <a:schemeClr val="accent2">
                      <a:lumMod val="40000"/>
                      <a:lumOff val="60000"/>
                      <a:alpha val="40000"/>
                    </a:schemeClr>
                  </a:glow>
                </a:effectLst>
              </a:rPr>
              <a:t>6- Systematic Exploration</a:t>
            </a:r>
          </a:p>
        </p:txBody>
      </p:sp>
    </p:spTree>
    <p:extLst>
      <p:ext uri="{BB962C8B-B14F-4D97-AF65-F5344CB8AC3E}">
        <p14:creationId xmlns:p14="http://schemas.microsoft.com/office/powerpoint/2010/main" val="3163803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328F1-0384-4BFF-E1EA-CD3E408DC34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7EE90A3-C46B-381A-E940-C459600321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a:extLst>
              <a:ext uri="{FF2B5EF4-FFF2-40B4-BE49-F238E27FC236}">
                <a16:creationId xmlns:a16="http://schemas.microsoft.com/office/drawing/2014/main" id="{E9105B23-C3C3-3427-8340-5A246EDFE96C}"/>
              </a:ext>
            </a:extLst>
          </p:cNvPr>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2BBCBC58-5265-84CC-40F9-4A002DABBA2E}"/>
              </a:ext>
            </a:extLst>
          </p:cNvPr>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The Characteristics of Scientific Knowledge</a:t>
            </a:r>
            <a:endParaRPr lang="en-US" sz="2400" b="1" dirty="0"/>
          </a:p>
        </p:txBody>
      </p:sp>
      <p:sp>
        <p:nvSpPr>
          <p:cNvPr id="6" name="Rounded Rectangle 5">
            <a:extLst>
              <a:ext uri="{FF2B5EF4-FFF2-40B4-BE49-F238E27FC236}">
                <a16:creationId xmlns:a16="http://schemas.microsoft.com/office/drawing/2014/main" id="{E7DBABD3-183E-ED3B-FE0D-954C44B0C42B}"/>
              </a:ext>
            </a:extLst>
          </p:cNvPr>
          <p:cNvSpPr/>
          <p:nvPr/>
        </p:nvSpPr>
        <p:spPr>
          <a:xfrm>
            <a:off x="1028760" y="2576061"/>
            <a:ext cx="9534135" cy="2987611"/>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defTabSz="1155700">
              <a:lnSpc>
                <a:spcPct val="150000"/>
              </a:lnSpc>
              <a:spcBef>
                <a:spcPts val="600"/>
              </a:spcBef>
              <a:spcAft>
                <a:spcPts val="600"/>
              </a:spcAft>
            </a:pPr>
            <a:r>
              <a:rPr lang="en-US" sz="2800" b="1" spc="50" dirty="0">
                <a:ln w="12700" cmpd="sng">
                  <a:prstDash val="solid"/>
                </a:ln>
                <a:solidFill>
                  <a:schemeClr val="tx1"/>
                </a:solidFill>
                <a:effectLst>
                  <a:glow rad="101600">
                    <a:schemeClr val="accent2">
                      <a:lumMod val="40000"/>
                      <a:lumOff val="60000"/>
                      <a:alpha val="40000"/>
                    </a:schemeClr>
                  </a:glow>
                </a:effectLst>
              </a:rPr>
              <a:t>Scientist does not begin his research from zero point. He begins usually from what a former scientist had stopped. The next scientist begins also from what the second had stopped and so on. </a:t>
            </a:r>
          </a:p>
        </p:txBody>
      </p:sp>
      <p:sp>
        <p:nvSpPr>
          <p:cNvPr id="8" name="Rectangle 7">
            <a:extLst>
              <a:ext uri="{FF2B5EF4-FFF2-40B4-BE49-F238E27FC236}">
                <a16:creationId xmlns:a16="http://schemas.microsoft.com/office/drawing/2014/main" id="{1F60D4DE-AEBD-2104-23F1-9CF928BA5405}"/>
              </a:ext>
            </a:extLst>
          </p:cNvPr>
          <p:cNvSpPr/>
          <p:nvPr/>
        </p:nvSpPr>
        <p:spPr>
          <a:xfrm>
            <a:off x="935666" y="1572125"/>
            <a:ext cx="9610414" cy="738664"/>
          </a:xfrm>
          <a:prstGeom prst="rect">
            <a:avLst/>
          </a:prstGeom>
          <a:noFill/>
        </p:spPr>
        <p:txBody>
          <a:bodyPr wrap="square" lIns="91440" tIns="45720" rIns="91440" bIns="45720">
            <a:spAutoFit/>
          </a:bodyPr>
          <a:lstStyle/>
          <a:p>
            <a:r>
              <a:rPr lang="en-US" sz="4200" b="1" spc="50" dirty="0">
                <a:ln w="12700" cmpd="sng">
                  <a:prstDash val="solid"/>
                </a:ln>
                <a:effectLst>
                  <a:glow rad="101600">
                    <a:schemeClr val="accent2">
                      <a:lumMod val="40000"/>
                      <a:lumOff val="60000"/>
                      <a:alpha val="40000"/>
                    </a:schemeClr>
                  </a:glow>
                </a:effectLst>
              </a:rPr>
              <a:t>7- The Continuity of Scientific Research    </a:t>
            </a:r>
          </a:p>
        </p:txBody>
      </p:sp>
    </p:spTree>
    <p:extLst>
      <p:ext uri="{BB962C8B-B14F-4D97-AF65-F5344CB8AC3E}">
        <p14:creationId xmlns:p14="http://schemas.microsoft.com/office/powerpoint/2010/main" val="2815388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749186" y="500063"/>
            <a:ext cx="7851889" cy="461665"/>
          </a:xfrm>
          <a:prstGeom prst="rect">
            <a:avLst/>
          </a:prstGeom>
        </p:spPr>
        <p:txBody>
          <a:bodyPr wrap="square">
            <a:spAutoFit/>
          </a:bodyPr>
          <a:lstStyle/>
          <a:p>
            <a:endParaRPr lang="en-US" sz="2400" b="1"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11" y="-10510"/>
            <a:ext cx="12196053" cy="6858000"/>
          </a:xfrm>
          <a:prstGeom prst="rect">
            <a:avLst/>
          </a:prstGeom>
        </p:spPr>
      </p:pic>
    </p:spTree>
    <p:extLst>
      <p:ext uri="{BB962C8B-B14F-4D97-AF65-F5344CB8AC3E}">
        <p14:creationId xmlns:p14="http://schemas.microsoft.com/office/powerpoint/2010/main" val="16276824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TotalTime>
  <Words>520</Words>
  <Application>Microsoft Office PowerPoint</Application>
  <PresentationFormat>شاشة عريضة</PresentationFormat>
  <Paragraphs>57</Paragraphs>
  <Slides>11</Slides>
  <Notes>0</Notes>
  <HiddenSlides>0</HiddenSlides>
  <MMClips>0</MMClips>
  <ScaleCrop>false</ScaleCrop>
  <HeadingPairs>
    <vt:vector size="4" baseType="variant">
      <vt:variant>
        <vt:lpstr>نسق</vt:lpstr>
      </vt:variant>
      <vt:variant>
        <vt:i4>1</vt:i4>
      </vt:variant>
      <vt:variant>
        <vt:lpstr>عناوين الشرائح</vt:lpstr>
      </vt:variant>
      <vt:variant>
        <vt:i4>11</vt:i4>
      </vt:variant>
    </vt:vector>
  </HeadingPairs>
  <TitlesOfParts>
    <vt:vector size="12" baseType="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moustafamahmoud.eg@hotmail.com</dc:creator>
  <cp:lastModifiedBy>مستخدم ضيف</cp:lastModifiedBy>
  <cp:revision>63</cp:revision>
  <dcterms:created xsi:type="dcterms:W3CDTF">2019-11-03T13:54:28Z</dcterms:created>
  <dcterms:modified xsi:type="dcterms:W3CDTF">2025-10-31T17:32:14Z</dcterms:modified>
</cp:coreProperties>
</file>